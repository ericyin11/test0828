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4"/>
  </p:notesMasterIdLst>
  <p:sldIdLst>
    <p:sldId id="292" r:id="rId3"/>
    <p:sldId id="295" r:id="rId4"/>
    <p:sldId id="296" r:id="rId5"/>
    <p:sldId id="297" r:id="rId6"/>
    <p:sldId id="308" r:id="rId7"/>
    <p:sldId id="309" r:id="rId8"/>
    <p:sldId id="310" r:id="rId9"/>
    <p:sldId id="312" r:id="rId10"/>
    <p:sldId id="298" r:id="rId11"/>
    <p:sldId id="304" r:id="rId12"/>
    <p:sldId id="31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大规模社区化开发" id="{59D4156F-D6DD-4AED-9240-C260B07AE432}">
          <p14:sldIdLst>
            <p14:sldId id="292"/>
            <p14:sldId id="295"/>
            <p14:sldId id="296"/>
            <p14:sldId id="297"/>
            <p14:sldId id="308"/>
            <p14:sldId id="309"/>
            <p14:sldId id="310"/>
            <p14:sldId id="312"/>
            <p14:sldId id="298"/>
            <p14:sldId id="304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B8117-973B-4C67-9A0D-F6D75AFC9420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D4228-6F0B-492B-89D3-378F3C335A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468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5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56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39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064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8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25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64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46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38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81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755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90204" pitchFamily="34" charset="0"/>
              </a:rPr>
              <a:t>‹#›</a:t>
            </a:fld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097915"/>
            <a:ext cx="12192000" cy="5760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OpenAtom OpenHarmony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0800" y="6190010"/>
            <a:ext cx="2606400" cy="340330"/>
          </a:xfrm>
          <a:prstGeom prst="rect">
            <a:avLst/>
          </a:prstGeom>
        </p:spPr>
      </p:pic>
      <p:pic>
        <p:nvPicPr>
          <p:cNvPr id="3" name="图片 2" descr="资源 3@4x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2170" y="328930"/>
            <a:ext cx="2145030" cy="45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7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8315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7" name="图片 6" descr="资源 3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3730" y="517525"/>
            <a:ext cx="2449830" cy="51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846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0DB2DC-4C9A-4742-B13C-FB6460FD3503}" type="slidenum">
              <a:rPr lang="zh-CN" altLang="en-US">
                <a:solidFill>
                  <a:srgbClr val="FFFFFF"/>
                </a:solidFill>
              </a:rPr>
              <a:pPr/>
              <a:t>‹#›</a:t>
            </a:fld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1097915"/>
            <a:ext cx="12192000" cy="5760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 descr="OpenAtom OpenHarmony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0800" y="6190010"/>
            <a:ext cx="2606400" cy="340330"/>
          </a:xfrm>
          <a:prstGeom prst="rect">
            <a:avLst/>
          </a:prstGeom>
        </p:spPr>
      </p:pic>
      <p:pic>
        <p:nvPicPr>
          <p:cNvPr id="3" name="图片 2" descr="资源 3@4x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2170" y="328930"/>
            <a:ext cx="2145030" cy="45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70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6085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01B97-A111-45E9-A567-C219A69D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A3A6B-05DB-49AC-B9E3-16CB79ED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90E81-456E-445D-A8AE-DFA3C468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2292-DAF1-4518-A090-0CC80639EECB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720433-BC6F-4937-B29F-3CBC9342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04D656-37C4-4EB6-95EE-ECC29682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FFF0A-A76C-4EE7-B15E-60AB9FFFC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01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B891D-4885-4B73-A3F1-C1CF7D134D5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27568-C9A1-44EC-8DFE-DA8AF94DF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49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A0DB2DC-4C9A-4742-B13C-FB6460FD3503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7" name="图片 6" descr="OpenAtom OpenHarmony-0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279255" y="6189980"/>
            <a:ext cx="2607945" cy="3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0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71" r:id="rId4"/>
    <p:sldLayoutId id="2147483672" r:id="rId5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.csdn.net/so/search?q=%E5%A4%B4%E6%96%87%E4%BB%B6&amp;spm=1001.2101.3001.7020" TargetMode="Externa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Word_Document.docx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100.107.171.95/c00566157/MyDocs/docs/#/ljcache/jcache_design?id=javac" TargetMode="External"/><Relationship Id="rId2" Type="http://schemas.openxmlformats.org/officeDocument/2006/relationships/hyperlink" Target="http://100.107.171.95/c00566157/MyDocs/docs/#/ljcache/jcache_design?id=metalava" TargetMode="Externa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://100.107.171.95/c00566157/MyDocs/docs/#/ljcache/jcache_design?id=d8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 txBox="1">
            <a:spLocks/>
          </p:cNvSpPr>
          <p:nvPr/>
        </p:nvSpPr>
        <p:spPr>
          <a:xfrm>
            <a:off x="243599" y="293617"/>
            <a:ext cx="1160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实践</a:t>
            </a:r>
            <a:r>
              <a:rPr lang="en-US" altLang="zh-CN" dirty="0"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ym typeface="微软雅黑" panose="020B0503020204020204" pitchFamily="34" charset="-122"/>
              </a:rPr>
              <a:t>：</a:t>
            </a:r>
            <a:r>
              <a:rPr lang="zh-CN" altLang="en-US" dirty="0"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改造</a:t>
            </a:r>
            <a:r>
              <a:rPr lang="en-US" altLang="zh-CN" dirty="0"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Gitee</a:t>
            </a:r>
            <a:r>
              <a:rPr lang="zh-CN" altLang="en-US" dirty="0"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适应</a:t>
            </a:r>
            <a:r>
              <a:rPr lang="en-US" altLang="zh-CN" dirty="0"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Feature Team</a:t>
            </a:r>
            <a:r>
              <a:rPr lang="zh-CN" altLang="en-US" dirty="0"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的研发模式，支持多人多仓多</a:t>
            </a:r>
            <a:r>
              <a:rPr lang="en-US" altLang="zh-CN" dirty="0"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PR</a:t>
            </a:r>
            <a:r>
              <a:rPr lang="zh-CN" altLang="en-US" dirty="0">
                <a:latin typeface="Source Han Sans CN Bold" panose="020B0A00000000000000" charset="-122"/>
                <a:ea typeface="Source Han Sans CN Bold" panose="020B0A00000000000000" charset="-122"/>
                <a:cs typeface="Source Han Sans CN Regular" panose="020B0A00000000000000" charset="-122"/>
              </a:rPr>
              <a:t>联合合入主干</a:t>
            </a:r>
            <a:endParaRPr lang="en-US" altLang="zh-CN" dirty="0">
              <a:latin typeface="Source Han Sans CN Bold" panose="020B0A00000000000000" charset="-122"/>
              <a:ea typeface="Source Han Sans CN Bold" panose="020B0A00000000000000" charset="-122"/>
              <a:cs typeface="Source Han Sans CN Regular" panose="020B0A00000000000000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00345" y="2278538"/>
            <a:ext cx="5652576" cy="3790524"/>
            <a:chOff x="100684" y="2059463"/>
            <a:chExt cx="5652576" cy="3790524"/>
          </a:xfrm>
        </p:grpSpPr>
        <p:sp>
          <p:nvSpPr>
            <p:cNvPr id="47" name="文本框 46"/>
            <p:cNvSpPr txBox="1"/>
            <p:nvPr/>
          </p:nvSpPr>
          <p:spPr>
            <a:xfrm>
              <a:off x="100684" y="4469722"/>
              <a:ext cx="117302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SystemService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284456" y="2059463"/>
              <a:ext cx="5468804" cy="3790524"/>
              <a:chOff x="170156" y="1553001"/>
              <a:chExt cx="5468804" cy="3790524"/>
            </a:xfrm>
          </p:grpSpPr>
          <p:sp>
            <p:nvSpPr>
              <p:cNvPr id="49" name="圆角矩形 48"/>
              <p:cNvSpPr/>
              <p:nvPr/>
            </p:nvSpPr>
            <p:spPr>
              <a:xfrm>
                <a:off x="1095375" y="2276475"/>
                <a:ext cx="4543585" cy="628650"/>
              </a:xfrm>
              <a:prstGeom prst="roundRect">
                <a:avLst/>
              </a:prstGeom>
              <a:solidFill>
                <a:srgbClr val="BBE0E3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1095375" y="3032125"/>
                <a:ext cx="4543585" cy="628650"/>
              </a:xfrm>
              <a:prstGeom prst="roundRect">
                <a:avLst/>
              </a:prstGeom>
              <a:solidFill>
                <a:srgbClr val="BBE0E3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1095375" y="3787775"/>
                <a:ext cx="4543585" cy="628650"/>
              </a:xfrm>
              <a:prstGeom prst="roundRect">
                <a:avLst/>
              </a:prstGeom>
              <a:solidFill>
                <a:srgbClr val="BBE0E3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52" name="圆角矩形 51"/>
              <p:cNvSpPr/>
              <p:nvPr/>
            </p:nvSpPr>
            <p:spPr>
              <a:xfrm>
                <a:off x="1095375" y="4543425"/>
                <a:ext cx="4543585" cy="628650"/>
              </a:xfrm>
              <a:prstGeom prst="roundRect">
                <a:avLst/>
              </a:prstGeom>
              <a:solidFill>
                <a:srgbClr val="BBE0E3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1666875" y="2095499"/>
                <a:ext cx="485775" cy="3248026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54" name="圆角矩形 53"/>
              <p:cNvSpPr/>
              <p:nvPr/>
            </p:nvSpPr>
            <p:spPr>
              <a:xfrm>
                <a:off x="2611080" y="2095499"/>
                <a:ext cx="485775" cy="3248026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55" name="圆角矩形 54"/>
              <p:cNvSpPr/>
              <p:nvPr/>
            </p:nvSpPr>
            <p:spPr>
              <a:xfrm>
                <a:off x="3555285" y="2095499"/>
                <a:ext cx="485775" cy="3248026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4784010" y="2095499"/>
                <a:ext cx="485775" cy="3248026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170156" y="2459995"/>
                <a:ext cx="91563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Application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87788" y="3184294"/>
                <a:ext cx="90441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Framework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471520" y="4730792"/>
                <a:ext cx="604653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Kernel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666306" y="1553001"/>
                <a:ext cx="70884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Feature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Team1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2499543" y="1553001"/>
                <a:ext cx="70884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Feature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Team2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3472635" y="1553001"/>
                <a:ext cx="70884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Feature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Team3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4672473" y="1553001"/>
                <a:ext cx="70884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Feature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Team n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1771650" y="2442343"/>
                <a:ext cx="249080" cy="253916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771650" y="3193261"/>
                <a:ext cx="249080" cy="253916"/>
              </a:xfrm>
              <a:prstGeom prst="rect">
                <a:avLst/>
              </a:prstGeom>
              <a:solidFill>
                <a:srgbClr val="808080">
                  <a:lumMod val="20000"/>
                  <a:lumOff val="80000"/>
                </a:srgbClr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771650" y="3957490"/>
                <a:ext cx="249080" cy="253916"/>
              </a:xfrm>
              <a:prstGeom prst="rect">
                <a:avLst/>
              </a:prstGeom>
              <a:solidFill>
                <a:srgbClr val="80BD0D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1771650" y="4719532"/>
                <a:ext cx="249080" cy="253916"/>
              </a:xfrm>
              <a:prstGeom prst="rect">
                <a:avLst/>
              </a:prstGeom>
              <a:solidFill>
                <a:srgbClr val="2D2D89">
                  <a:lumMod val="60000"/>
                  <a:lumOff val="40000"/>
                </a:srgbClr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4088685" y="2366288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……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4088685" y="3126586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……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4088685" y="3859726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……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4088685" y="4673084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</a:rPr>
                  <a:t>……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endParaRPr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4915930" y="2442343"/>
                <a:ext cx="249080" cy="253916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4915930" y="3193261"/>
                <a:ext cx="249080" cy="253916"/>
              </a:xfrm>
              <a:prstGeom prst="rect">
                <a:avLst/>
              </a:prstGeom>
              <a:solidFill>
                <a:srgbClr val="808080">
                  <a:lumMod val="20000"/>
                  <a:lumOff val="80000"/>
                </a:srgbClr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4915930" y="3957490"/>
                <a:ext cx="249080" cy="253916"/>
              </a:xfrm>
              <a:prstGeom prst="rect">
                <a:avLst/>
              </a:prstGeom>
              <a:solidFill>
                <a:srgbClr val="80BD0D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4915930" y="4719532"/>
                <a:ext cx="249080" cy="253916"/>
              </a:xfrm>
              <a:prstGeom prst="rect">
                <a:avLst/>
              </a:prstGeom>
              <a:solidFill>
                <a:srgbClr val="2D2D89">
                  <a:lumMod val="60000"/>
                  <a:lumOff val="40000"/>
                </a:srgbClr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2724150" y="2442343"/>
                <a:ext cx="249080" cy="253916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2724150" y="3193261"/>
                <a:ext cx="249080" cy="253916"/>
              </a:xfrm>
              <a:prstGeom prst="rect">
                <a:avLst/>
              </a:prstGeom>
              <a:solidFill>
                <a:srgbClr val="808080">
                  <a:lumMod val="20000"/>
                  <a:lumOff val="80000"/>
                </a:srgbClr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2724150" y="3957490"/>
                <a:ext cx="249080" cy="253916"/>
              </a:xfrm>
              <a:prstGeom prst="rect">
                <a:avLst/>
              </a:prstGeom>
              <a:solidFill>
                <a:srgbClr val="80BD0D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2724150" y="4719532"/>
                <a:ext cx="249080" cy="253916"/>
              </a:xfrm>
              <a:prstGeom prst="rect">
                <a:avLst/>
              </a:prstGeom>
              <a:solidFill>
                <a:srgbClr val="2D2D89">
                  <a:lumMod val="60000"/>
                  <a:lumOff val="40000"/>
                </a:srgbClr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3692057" y="2442343"/>
                <a:ext cx="249080" cy="253916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3692057" y="3193261"/>
                <a:ext cx="249080" cy="253916"/>
              </a:xfrm>
              <a:prstGeom prst="rect">
                <a:avLst/>
              </a:prstGeom>
              <a:solidFill>
                <a:srgbClr val="808080">
                  <a:lumMod val="20000"/>
                  <a:lumOff val="80000"/>
                </a:srgbClr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3692057" y="3957490"/>
                <a:ext cx="249080" cy="253916"/>
              </a:xfrm>
              <a:prstGeom prst="rect">
                <a:avLst/>
              </a:prstGeom>
              <a:solidFill>
                <a:srgbClr val="80BD0D"/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3692057" y="4719532"/>
                <a:ext cx="249080" cy="253916"/>
              </a:xfrm>
              <a:prstGeom prst="rect">
                <a:avLst/>
              </a:prstGeom>
              <a:solidFill>
                <a:srgbClr val="2D2D89">
                  <a:lumMod val="60000"/>
                  <a:lumOff val="40000"/>
                </a:srgbClr>
              </a:solidFill>
              <a:ln w="12700" cap="flat" cmpd="sng" algn="ctr">
                <a:solidFill>
                  <a:srgbClr val="BBE0E3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p:grpSp>
      </p:grpSp>
      <p:sp>
        <p:nvSpPr>
          <p:cNvPr id="84" name="文本框 83"/>
          <p:cNvSpPr txBox="1"/>
          <p:nvPr/>
        </p:nvSpPr>
        <p:spPr>
          <a:xfrm>
            <a:off x="104775" y="1239900"/>
            <a:ext cx="5829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Devops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小批量交付，采用全功能团队快速交付和验证；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交付涉及多人多仓联合交付；</a:t>
            </a: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96" y="1608767"/>
            <a:ext cx="5570010" cy="2021895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696" y="4578731"/>
            <a:ext cx="5558933" cy="1625321"/>
          </a:xfrm>
          <a:prstGeom prst="rect">
            <a:avLst/>
          </a:prstGeom>
          <a:ln>
            <a:solidFill>
              <a:srgbClr val="FFFFFF">
                <a:lumMod val="75000"/>
              </a:srgbClr>
            </a:solidFill>
          </a:ln>
        </p:spPr>
      </p:pic>
      <p:sp>
        <p:nvSpPr>
          <p:cNvPr id="87" name="矩形 86"/>
          <p:cNvSpPr/>
          <p:nvPr/>
        </p:nvSpPr>
        <p:spPr>
          <a:xfrm>
            <a:off x="6226696" y="1239900"/>
            <a:ext cx="5674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定制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工具，使得码云支持多仓批量下载、更新以及合入</a:t>
            </a:r>
          </a:p>
        </p:txBody>
      </p:sp>
      <p:sp>
        <p:nvSpPr>
          <p:cNvPr id="88" name="矩形 87"/>
          <p:cNvSpPr/>
          <p:nvPr/>
        </p:nvSpPr>
        <p:spPr>
          <a:xfrm>
            <a:off x="6226696" y="3691752"/>
            <a:ext cx="5765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为单位，标识多个关联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联合提交验证，通过评论区执行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 Build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，集中一次执行代码门禁验证，避免重复构建、关联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存在耦合无法单独验证通过等问题</a:t>
            </a:r>
            <a:endParaRPr lang="en-US" altLang="zh-CN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7226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 txBox="1">
            <a:spLocks/>
          </p:cNvSpPr>
          <p:nvPr/>
        </p:nvSpPr>
        <p:spPr>
          <a:xfrm>
            <a:off x="243599" y="293617"/>
            <a:ext cx="1160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实践</a:t>
            </a:r>
            <a:r>
              <a:rPr lang="en-US" altLang="zh-CN" dirty="0">
                <a:sym typeface="微软雅黑" panose="020B0503020204020204" pitchFamily="34" charset="-122"/>
              </a:rPr>
              <a:t>2</a:t>
            </a:r>
            <a:r>
              <a:rPr lang="zh-CN" altLang="en-US" dirty="0">
                <a:sym typeface="微软雅黑" panose="020B0503020204020204" pitchFamily="34" charset="-122"/>
              </a:rPr>
              <a:t>：拥抱</a:t>
            </a:r>
            <a:r>
              <a:rPr lang="en-US" altLang="zh-CN" dirty="0">
                <a:sym typeface="微软雅黑" panose="020B0503020204020204" pitchFamily="34" charset="-122"/>
              </a:rPr>
              <a:t>Social Coding</a:t>
            </a:r>
            <a:r>
              <a:rPr lang="zh-CN" altLang="en-US" dirty="0">
                <a:sym typeface="微软雅黑" panose="020B0503020204020204" pitchFamily="34" charset="-122"/>
              </a:rPr>
              <a:t>，支撑</a:t>
            </a:r>
            <a:r>
              <a:rPr lang="en-US" altLang="zh-CN" dirty="0"/>
              <a:t>Contributor</a:t>
            </a:r>
            <a:r>
              <a:rPr lang="zh-CN" altLang="en-US" dirty="0"/>
              <a:t>在社区贡献代码</a:t>
            </a:r>
          </a:p>
        </p:txBody>
      </p:sp>
      <p:sp>
        <p:nvSpPr>
          <p:cNvPr id="3" name="矩形 2"/>
          <p:cNvSpPr/>
          <p:nvPr/>
        </p:nvSpPr>
        <p:spPr>
          <a:xfrm>
            <a:off x="522726" y="1105876"/>
            <a:ext cx="11089234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 Request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是两个仓库提交变更的一种方式，通常用于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fork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仓库与被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fork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仓库的差异提交，是一种非常好的团队协作方式。参与码云中的仓库开发，最常用和推荐的首选方式是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Fork + Pull”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9814" y="2992440"/>
            <a:ext cx="466612" cy="261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034"/>
            <a:r>
              <a:rPr lang="en-US" altLang="zh-CN" sz="1050" dirty="0">
                <a:solidFill>
                  <a:srgbClr val="000000"/>
                </a:solidFill>
                <a:latin typeface="Arial" charset="0"/>
              </a:rPr>
              <a:t>Fork</a:t>
            </a:r>
            <a:endParaRPr lang="en-US" sz="10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3419" y="4699376"/>
            <a:ext cx="538720" cy="253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034"/>
            <a:r>
              <a:rPr lang="en-US" altLang="zh-CN" sz="1050" dirty="0">
                <a:solidFill>
                  <a:srgbClr val="000000"/>
                </a:solidFill>
                <a:latin typeface="Arial" charset="0"/>
              </a:rPr>
              <a:t>Clone</a:t>
            </a:r>
            <a:endParaRPr lang="en-US" sz="105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流程图: 磁盘 5"/>
          <p:cNvSpPr/>
          <p:nvPr/>
        </p:nvSpPr>
        <p:spPr bwMode="auto">
          <a:xfrm>
            <a:off x="1268669" y="2230626"/>
            <a:ext cx="1209711" cy="660620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en-US" altLang="zh-CN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OpenHarmony</a:t>
            </a:r>
          </a:p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代码中心仓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7" name="流程图: 磁盘 6"/>
          <p:cNvSpPr/>
          <p:nvPr/>
        </p:nvSpPr>
        <p:spPr bwMode="auto">
          <a:xfrm>
            <a:off x="1412987" y="3894605"/>
            <a:ext cx="930814" cy="634294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个人远端代码仓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8" name="流程图: 多文档 7"/>
          <p:cNvSpPr/>
          <p:nvPr/>
        </p:nvSpPr>
        <p:spPr bwMode="auto">
          <a:xfrm>
            <a:off x="1295587" y="5442311"/>
            <a:ext cx="1031443" cy="561843"/>
          </a:xfrm>
          <a:prstGeom prst="flowChartMultidocumen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本地工作空间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9" name="直接箭头连接符 8"/>
          <p:cNvCxnSpPr>
            <a:stCxn id="6" idx="3"/>
            <a:endCxn id="7" idx="1"/>
          </p:cNvCxnSpPr>
          <p:nvPr/>
        </p:nvCxnSpPr>
        <p:spPr bwMode="auto">
          <a:xfrm>
            <a:off x="1873525" y="2891246"/>
            <a:ext cx="4869" cy="1003359"/>
          </a:xfrm>
          <a:prstGeom prst="straightConnector1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接箭头连接符 9"/>
          <p:cNvCxnSpPr>
            <a:stCxn id="7" idx="3"/>
            <a:endCxn id="8" idx="0"/>
          </p:cNvCxnSpPr>
          <p:nvPr/>
        </p:nvCxnSpPr>
        <p:spPr bwMode="auto">
          <a:xfrm>
            <a:off x="1878394" y="4528899"/>
            <a:ext cx="3874" cy="913412"/>
          </a:xfrm>
          <a:prstGeom prst="straightConnector1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矩形 10"/>
          <p:cNvSpPr/>
          <p:nvPr/>
        </p:nvSpPr>
        <p:spPr bwMode="auto">
          <a:xfrm>
            <a:off x="2905647" y="5573685"/>
            <a:ext cx="955972" cy="293500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代码修改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12" name="直接箭头连接符 11"/>
          <p:cNvCxnSpPr>
            <a:stCxn id="8" idx="3"/>
            <a:endCxn id="11" idx="1"/>
          </p:cNvCxnSpPr>
          <p:nvPr/>
        </p:nvCxnSpPr>
        <p:spPr bwMode="auto">
          <a:xfrm flipV="1">
            <a:off x="2327030" y="5720435"/>
            <a:ext cx="578617" cy="2798"/>
          </a:xfrm>
          <a:prstGeom prst="straightConnector1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矩形 12"/>
          <p:cNvSpPr/>
          <p:nvPr/>
        </p:nvSpPr>
        <p:spPr bwMode="auto">
          <a:xfrm>
            <a:off x="4361917" y="5572286"/>
            <a:ext cx="955972" cy="293500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个人构建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4361917" y="4958917"/>
            <a:ext cx="955972" cy="375748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en-US" altLang="zh-CN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Push </a:t>
            </a: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到个人远端库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15" name="直接箭头连接符 14"/>
          <p:cNvCxnSpPr>
            <a:stCxn id="13" idx="0"/>
            <a:endCxn id="14" idx="2"/>
          </p:cNvCxnSpPr>
          <p:nvPr/>
        </p:nvCxnSpPr>
        <p:spPr bwMode="auto">
          <a:xfrm flipV="1">
            <a:off x="4839903" y="5334665"/>
            <a:ext cx="0" cy="237621"/>
          </a:xfrm>
          <a:prstGeom prst="straightConnector1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矩形 15"/>
          <p:cNvSpPr/>
          <p:nvPr/>
        </p:nvSpPr>
        <p:spPr bwMode="auto">
          <a:xfrm>
            <a:off x="3547710" y="6072048"/>
            <a:ext cx="500298" cy="285707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编译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4135284" y="6072048"/>
            <a:ext cx="711587" cy="285707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静态检查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4934146" y="6072048"/>
            <a:ext cx="409552" cy="285707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en-US" altLang="zh-CN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UT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5430976" y="6072048"/>
            <a:ext cx="770600" cy="285707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接口测试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20" name="直接连接符 19"/>
          <p:cNvCxnSpPr>
            <a:stCxn id="13" idx="2"/>
            <a:endCxn id="16" idx="0"/>
          </p:cNvCxnSpPr>
          <p:nvPr/>
        </p:nvCxnSpPr>
        <p:spPr bwMode="auto">
          <a:xfrm flipH="1">
            <a:off x="3797859" y="5865784"/>
            <a:ext cx="1042044" cy="20626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dashDot"/>
            <a:round/>
            <a:headEnd type="none" w="med" len="med"/>
            <a:tailEnd type="none"/>
          </a:ln>
          <a:effectLst/>
        </p:spPr>
      </p:cxnSp>
      <p:cxnSp>
        <p:nvCxnSpPr>
          <p:cNvPr id="21" name="直接连接符 20"/>
          <p:cNvCxnSpPr>
            <a:stCxn id="13" idx="2"/>
            <a:endCxn id="19" idx="0"/>
          </p:cNvCxnSpPr>
          <p:nvPr/>
        </p:nvCxnSpPr>
        <p:spPr bwMode="auto">
          <a:xfrm>
            <a:off x="4839903" y="5865784"/>
            <a:ext cx="976374" cy="20626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dashDot"/>
            <a:round/>
            <a:headEnd type="none" w="med" len="med"/>
            <a:tailEnd type="none"/>
          </a:ln>
          <a:effectLst/>
        </p:spPr>
      </p:cxnSp>
      <p:sp>
        <p:nvSpPr>
          <p:cNvPr id="22" name="矩形 21"/>
          <p:cNvSpPr/>
          <p:nvPr/>
        </p:nvSpPr>
        <p:spPr bwMode="auto">
          <a:xfrm>
            <a:off x="6130916" y="3515814"/>
            <a:ext cx="955972" cy="375748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en-US" altLang="zh-CN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Review@</a:t>
            </a: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同行评审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9601114" y="4958917"/>
            <a:ext cx="955972" cy="375748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触发代码门禁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5393919" y="4047053"/>
            <a:ext cx="500298" cy="285707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申请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5981493" y="4047053"/>
            <a:ext cx="613482" cy="285707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检视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6682255" y="4047053"/>
            <a:ext cx="507655" cy="285707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提单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7277186" y="4047053"/>
            <a:ext cx="613483" cy="285707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修改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28" name="直接连接符 27"/>
          <p:cNvCxnSpPr>
            <a:stCxn id="22" idx="2"/>
            <a:endCxn id="24" idx="0"/>
          </p:cNvCxnSpPr>
          <p:nvPr/>
        </p:nvCxnSpPr>
        <p:spPr bwMode="auto">
          <a:xfrm flipH="1">
            <a:off x="5644069" y="3891559"/>
            <a:ext cx="964834" cy="15549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dashDot"/>
            <a:round/>
            <a:headEnd type="none" w="med" len="med"/>
            <a:tailEnd type="none"/>
          </a:ln>
          <a:effectLst/>
        </p:spPr>
      </p:cxnSp>
      <p:cxnSp>
        <p:nvCxnSpPr>
          <p:cNvPr id="29" name="直接连接符 28"/>
          <p:cNvCxnSpPr>
            <a:stCxn id="22" idx="2"/>
            <a:endCxn id="27" idx="0"/>
          </p:cNvCxnSpPr>
          <p:nvPr/>
        </p:nvCxnSpPr>
        <p:spPr bwMode="auto">
          <a:xfrm>
            <a:off x="6608901" y="3891559"/>
            <a:ext cx="975025" cy="15549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dashDot"/>
            <a:round/>
            <a:headEnd type="none" w="med" len="med"/>
            <a:tailEnd type="none"/>
          </a:ln>
          <a:effectLst/>
        </p:spPr>
      </p:cxnSp>
      <p:sp>
        <p:nvSpPr>
          <p:cNvPr id="30" name="文本框 29"/>
          <p:cNvSpPr txBox="1"/>
          <p:nvPr/>
        </p:nvSpPr>
        <p:spPr>
          <a:xfrm>
            <a:off x="1615034" y="1954614"/>
            <a:ext cx="543527" cy="307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034"/>
            <a:r>
              <a:rPr lang="zh-CN" altLang="en-US" sz="1399" b="1" dirty="0">
                <a:solidFill>
                  <a:srgbClr val="000000"/>
                </a:solidFill>
                <a:latin typeface="Arial" charset="0"/>
                <a:ea typeface="微软雅黑"/>
              </a:rPr>
              <a:t>码云</a:t>
            </a:r>
            <a:endParaRPr lang="en-US" sz="1399" b="1" dirty="0">
              <a:solidFill>
                <a:srgbClr val="000000"/>
              </a:solidFill>
              <a:latin typeface="Arial" charset="0"/>
              <a:ea typeface="微软雅黑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6126004" y="4833711"/>
            <a:ext cx="955972" cy="629080"/>
          </a:xfrm>
          <a:prstGeom prst="rect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往中心仓创建</a:t>
            </a:r>
            <a:r>
              <a:rPr lang="en-US" altLang="zh-CN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PR</a:t>
            </a: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、关联</a:t>
            </a:r>
            <a:r>
              <a:rPr lang="en-US" altLang="zh-CN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ISSUE</a:t>
            </a:r>
            <a:r>
              <a:rPr lang="zh-CN" altLang="en-US" sz="10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（多仓）</a:t>
            </a:r>
            <a:endParaRPr lang="en-US" sz="10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32" name="直接箭头连接符 31"/>
          <p:cNvCxnSpPr>
            <a:stCxn id="14" idx="3"/>
          </p:cNvCxnSpPr>
          <p:nvPr/>
        </p:nvCxnSpPr>
        <p:spPr bwMode="auto">
          <a:xfrm flipV="1">
            <a:off x="5317889" y="5132136"/>
            <a:ext cx="808115" cy="14655"/>
          </a:xfrm>
          <a:prstGeom prst="straightConnector1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接箭头连接符 32"/>
          <p:cNvCxnSpPr>
            <a:stCxn id="11" idx="3"/>
            <a:endCxn id="13" idx="1"/>
          </p:cNvCxnSpPr>
          <p:nvPr/>
        </p:nvCxnSpPr>
        <p:spPr bwMode="auto">
          <a:xfrm flipV="1">
            <a:off x="3861619" y="5719036"/>
            <a:ext cx="500298" cy="1399"/>
          </a:xfrm>
          <a:prstGeom prst="straightConnector1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8405446" y="3405841"/>
            <a:ext cx="3352236" cy="1248467"/>
          </a:xfrm>
          <a:prstGeom prst="rect">
            <a:avLst/>
          </a:prstGeom>
          <a:solidFill>
            <a:srgbClr val="990000">
              <a:lumMod val="20000"/>
              <a:lumOff val="8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endParaRPr lang="en-US" sz="1399" kern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35" name="流程图: 磁盘 34"/>
          <p:cNvSpPr/>
          <p:nvPr/>
        </p:nvSpPr>
        <p:spPr bwMode="auto">
          <a:xfrm>
            <a:off x="9364986" y="4105562"/>
            <a:ext cx="700760" cy="431370"/>
          </a:xfrm>
          <a:prstGeom prst="flowChartMagneticDisk">
            <a:avLst/>
          </a:prstGeom>
          <a:solidFill>
            <a:srgbClr val="99CCFF">
              <a:lumMod val="9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编译打包</a:t>
            </a:r>
            <a:endParaRPr lang="en-US" sz="8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36" name="流程图: 磁盘 35"/>
          <p:cNvSpPr/>
          <p:nvPr/>
        </p:nvSpPr>
        <p:spPr bwMode="auto">
          <a:xfrm>
            <a:off x="10900047" y="4105562"/>
            <a:ext cx="700760" cy="404173"/>
          </a:xfrm>
          <a:prstGeom prst="flowChartMagneticDisk">
            <a:avLst/>
          </a:prstGeom>
          <a:solidFill>
            <a:srgbClr val="99CCFF">
              <a:lumMod val="9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冒烟测试</a:t>
            </a:r>
            <a:endParaRPr lang="en-US" sz="8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37" name="流程图: 磁盘 36"/>
          <p:cNvSpPr/>
          <p:nvPr/>
        </p:nvSpPr>
        <p:spPr bwMode="auto">
          <a:xfrm>
            <a:off x="10132517" y="4105562"/>
            <a:ext cx="700760" cy="404173"/>
          </a:xfrm>
          <a:prstGeom prst="flowChartMagneticDisk">
            <a:avLst/>
          </a:prstGeom>
          <a:solidFill>
            <a:srgbClr val="99CCFF">
              <a:lumMod val="9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部署</a:t>
            </a:r>
            <a:endParaRPr lang="en-US" sz="8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176498" y="3860927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代码门禁流水线的活动</a:t>
            </a:r>
          </a:p>
        </p:txBody>
      </p:sp>
      <p:sp>
        <p:nvSpPr>
          <p:cNvPr id="39" name="流程图: 磁盘 38"/>
          <p:cNvSpPr/>
          <p:nvPr/>
        </p:nvSpPr>
        <p:spPr bwMode="auto">
          <a:xfrm>
            <a:off x="9364986" y="3523794"/>
            <a:ext cx="700760" cy="404173"/>
          </a:xfrm>
          <a:prstGeom prst="flowChartMagneticDisk">
            <a:avLst/>
          </a:prstGeom>
          <a:solidFill>
            <a:srgbClr val="99CCFF">
              <a:lumMod val="9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静态检查（增量）</a:t>
            </a:r>
            <a:endParaRPr lang="en-US" sz="8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40" name="流程图: 磁盘 39"/>
          <p:cNvSpPr/>
          <p:nvPr/>
        </p:nvSpPr>
        <p:spPr bwMode="auto">
          <a:xfrm>
            <a:off x="8597455" y="3523794"/>
            <a:ext cx="700760" cy="404173"/>
          </a:xfrm>
          <a:prstGeom prst="flowChartMagneticDisk">
            <a:avLst/>
          </a:prstGeom>
          <a:solidFill>
            <a:srgbClr val="99CCFF">
              <a:lumMod val="9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en-US" altLang="zh-CN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DCO</a:t>
            </a:r>
            <a:r>
              <a:rPr lang="zh-CN" altLang="en-US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检查</a:t>
            </a:r>
            <a:endParaRPr lang="en-US" sz="8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41" name="流程图: 磁盘 40"/>
          <p:cNvSpPr/>
          <p:nvPr/>
        </p:nvSpPr>
        <p:spPr bwMode="auto">
          <a:xfrm>
            <a:off x="10132517" y="3523794"/>
            <a:ext cx="700760" cy="404173"/>
          </a:xfrm>
          <a:prstGeom prst="flowChartMagneticDisk">
            <a:avLst/>
          </a:prstGeom>
          <a:solidFill>
            <a:srgbClr val="99CCFF">
              <a:lumMod val="9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开源合规扫描</a:t>
            </a:r>
            <a:endParaRPr lang="en-US" sz="8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42" name="流程图: 磁盘 41"/>
          <p:cNvSpPr/>
          <p:nvPr/>
        </p:nvSpPr>
        <p:spPr bwMode="auto">
          <a:xfrm>
            <a:off x="10900048" y="3523794"/>
            <a:ext cx="700760" cy="404173"/>
          </a:xfrm>
          <a:prstGeom prst="flowChartMagneticDisk">
            <a:avLst/>
          </a:prstGeom>
          <a:solidFill>
            <a:srgbClr val="99CCFF">
              <a:lumMod val="9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资料扫描</a:t>
            </a:r>
            <a:endParaRPr lang="en-US" sz="8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43" name="肘形连接符 42"/>
          <p:cNvCxnSpPr>
            <a:stCxn id="31" idx="3"/>
            <a:endCxn id="23" idx="1"/>
          </p:cNvCxnSpPr>
          <p:nvPr/>
        </p:nvCxnSpPr>
        <p:spPr bwMode="auto">
          <a:xfrm flipV="1">
            <a:off x="7081976" y="5146791"/>
            <a:ext cx="2519138" cy="1460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直接箭头连接符 43"/>
          <p:cNvCxnSpPr>
            <a:stCxn id="23" idx="0"/>
            <a:endCxn id="34" idx="2"/>
          </p:cNvCxnSpPr>
          <p:nvPr/>
        </p:nvCxnSpPr>
        <p:spPr bwMode="auto">
          <a:xfrm flipV="1">
            <a:off x="10079100" y="4654308"/>
            <a:ext cx="2464" cy="304609"/>
          </a:xfrm>
          <a:prstGeom prst="straightConnector1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流程图: 磁盘 44"/>
          <p:cNvSpPr/>
          <p:nvPr/>
        </p:nvSpPr>
        <p:spPr bwMode="auto">
          <a:xfrm>
            <a:off x="8597455" y="4105562"/>
            <a:ext cx="700760" cy="431370"/>
          </a:xfrm>
          <a:prstGeom prst="flowChartMagneticDisk">
            <a:avLst/>
          </a:prstGeom>
          <a:solidFill>
            <a:srgbClr val="99CCFF">
              <a:lumMod val="90000"/>
            </a:srgbClr>
          </a:solidFill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zh-CN" altLang="en-US" sz="8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敏感词扫描</a:t>
            </a:r>
            <a:endParaRPr lang="en-US" sz="8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46" name="肘形连接符 45"/>
          <p:cNvCxnSpPr>
            <a:stCxn id="31" idx="0"/>
            <a:endCxn id="22" idx="2"/>
          </p:cNvCxnSpPr>
          <p:nvPr/>
        </p:nvCxnSpPr>
        <p:spPr bwMode="auto">
          <a:xfrm rot="5400000" flipH="1" flipV="1">
            <a:off x="6135372" y="4360181"/>
            <a:ext cx="942149" cy="4912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流程图: 决策 46"/>
          <p:cNvSpPr/>
          <p:nvPr/>
        </p:nvSpPr>
        <p:spPr bwMode="auto">
          <a:xfrm>
            <a:off x="7444494" y="2500430"/>
            <a:ext cx="1819567" cy="493610"/>
          </a:xfrm>
          <a:prstGeom prst="flowChartDecision">
            <a:avLst/>
          </a:prstGeom>
          <a:noFill/>
          <a:ln w="9525" algn="ctr">
            <a:solidFill>
              <a:srgbClr val="FFFFFF">
                <a:lumMod val="65000"/>
              </a:srgbClr>
            </a:solidFill>
            <a:prstDash val="solid"/>
            <a:round/>
            <a:headEnd/>
            <a:tailEnd/>
          </a:ln>
          <a:effectLst/>
        </p:spPr>
        <p:txBody>
          <a:bodyPr wrap="square" lIns="91388" tIns="45694" rIns="91388" bIns="45694" rtlCol="0" anchor="ctr">
            <a:noAutofit/>
          </a:bodyPr>
          <a:lstStyle/>
          <a:p>
            <a:pPr algn="ctr" defTabSz="914034">
              <a:defRPr/>
            </a:pPr>
            <a:r>
              <a:rPr lang="en-US" sz="9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Committer</a:t>
            </a:r>
            <a:r>
              <a:rPr lang="zh-CN" altLang="en-US" sz="9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审核是否通过</a:t>
            </a:r>
            <a:endParaRPr lang="en-US" sz="9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cxnSp>
        <p:nvCxnSpPr>
          <p:cNvPr id="48" name="肘形连接符 47"/>
          <p:cNvCxnSpPr>
            <a:stCxn id="22" idx="0"/>
            <a:endCxn id="47" idx="1"/>
          </p:cNvCxnSpPr>
          <p:nvPr/>
        </p:nvCxnSpPr>
        <p:spPr bwMode="auto">
          <a:xfrm rot="5400000" flipH="1" flipV="1">
            <a:off x="6642409" y="2713729"/>
            <a:ext cx="768579" cy="835592"/>
          </a:xfrm>
          <a:prstGeom prst="bentConnector2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" name="肘形连接符 48"/>
          <p:cNvCxnSpPr>
            <a:stCxn id="34" idx="0"/>
            <a:endCxn id="47" idx="3"/>
          </p:cNvCxnSpPr>
          <p:nvPr/>
        </p:nvCxnSpPr>
        <p:spPr bwMode="auto">
          <a:xfrm rot="16200000" flipV="1">
            <a:off x="9343510" y="2667786"/>
            <a:ext cx="658606" cy="817503"/>
          </a:xfrm>
          <a:prstGeom prst="bentConnector2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文本框 49"/>
          <p:cNvSpPr txBox="1"/>
          <p:nvPr/>
        </p:nvSpPr>
        <p:spPr>
          <a:xfrm>
            <a:off x="6226479" y="302506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检视通过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9672813" y="298955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门禁通过</a:t>
            </a:r>
          </a:p>
        </p:txBody>
      </p:sp>
      <p:sp>
        <p:nvSpPr>
          <p:cNvPr id="52" name="流程图: 联系 51"/>
          <p:cNvSpPr/>
          <p:nvPr/>
        </p:nvSpPr>
        <p:spPr>
          <a:xfrm>
            <a:off x="8209660" y="2072014"/>
            <a:ext cx="281354" cy="218208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53" name="直接箭头连接符 52"/>
          <p:cNvCxnSpPr>
            <a:stCxn id="47" idx="0"/>
            <a:endCxn id="52" idx="4"/>
          </p:cNvCxnSpPr>
          <p:nvPr/>
        </p:nvCxnSpPr>
        <p:spPr bwMode="auto">
          <a:xfrm flipH="1" flipV="1">
            <a:off x="8350337" y="2290222"/>
            <a:ext cx="3941" cy="210208"/>
          </a:xfrm>
          <a:prstGeom prst="straightConnector1">
            <a:avLst/>
          </a:prstGeom>
          <a:noFill/>
          <a:ln w="158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4" name="文本框 53"/>
          <p:cNvSpPr txBox="1"/>
          <p:nvPr/>
        </p:nvSpPr>
        <p:spPr>
          <a:xfrm>
            <a:off x="8564767" y="203262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合入主干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194865" y="451208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发起检视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7559962" y="486979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启动门禁构建</a:t>
            </a:r>
          </a:p>
        </p:txBody>
      </p:sp>
    </p:spTree>
    <p:extLst>
      <p:ext uri="{BB962C8B-B14F-4D97-AF65-F5344CB8AC3E}">
        <p14:creationId xmlns:p14="http://schemas.microsoft.com/office/powerpoint/2010/main" val="239802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 txBox="1">
            <a:spLocks/>
          </p:cNvSpPr>
          <p:nvPr/>
        </p:nvSpPr>
        <p:spPr>
          <a:xfrm>
            <a:off x="243599" y="293617"/>
            <a:ext cx="1160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实践</a:t>
            </a:r>
            <a:r>
              <a:rPr lang="en-US" altLang="zh-CN" dirty="0">
                <a:sym typeface="微软雅黑" panose="020B0503020204020204" pitchFamily="34" charset="-122"/>
              </a:rPr>
              <a:t>3</a:t>
            </a:r>
            <a:r>
              <a:rPr lang="zh-CN" altLang="en-US" dirty="0">
                <a:sym typeface="微软雅黑" panose="020B0503020204020204" pitchFamily="34" charset="-122"/>
              </a:rPr>
              <a:t>：提供代码检视策略与门禁流水线配合实现门禁机制</a:t>
            </a: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521674" y="3429355"/>
            <a:ext cx="11066585" cy="3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流程图: 联系 4"/>
          <p:cNvSpPr/>
          <p:nvPr/>
        </p:nvSpPr>
        <p:spPr>
          <a:xfrm>
            <a:off x="1204543" y="3376603"/>
            <a:ext cx="96716" cy="10550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流程图: 联系 5"/>
          <p:cNvSpPr/>
          <p:nvPr/>
        </p:nvSpPr>
        <p:spPr>
          <a:xfrm>
            <a:off x="2754920" y="3376602"/>
            <a:ext cx="96716" cy="10550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流程图: 联系 6"/>
          <p:cNvSpPr/>
          <p:nvPr/>
        </p:nvSpPr>
        <p:spPr>
          <a:xfrm>
            <a:off x="4533898" y="3376602"/>
            <a:ext cx="96716" cy="10550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流程图: 联系 7"/>
          <p:cNvSpPr/>
          <p:nvPr/>
        </p:nvSpPr>
        <p:spPr>
          <a:xfrm>
            <a:off x="6075486" y="3376602"/>
            <a:ext cx="96716" cy="10550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流程图: 联系 8"/>
          <p:cNvSpPr/>
          <p:nvPr/>
        </p:nvSpPr>
        <p:spPr>
          <a:xfrm>
            <a:off x="7608275" y="3376601"/>
            <a:ext cx="96716" cy="10550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0287" y="2538991"/>
            <a:ext cx="132763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开发人员将代码提交到自己的远端代码库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055929" y="2538988"/>
            <a:ext cx="1610463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创建一个</a:t>
            </a:r>
            <a:r>
              <a:rPr lang="en-US" altLang="zh-CN" sz="1200" dirty="0"/>
              <a:t>PR</a:t>
            </a:r>
            <a:r>
              <a:rPr lang="zh-CN" altLang="en-US" sz="1200" dirty="0"/>
              <a:t>，选择</a:t>
            </a:r>
            <a:r>
              <a:rPr lang="en-US" altLang="zh-CN" sz="1200" dirty="0"/>
              <a:t>Commit</a:t>
            </a:r>
            <a:r>
              <a:rPr lang="zh-CN" altLang="en-US" sz="1200" dirty="0"/>
              <a:t>，填写待合入分支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34908" y="2538990"/>
            <a:ext cx="150202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Gitee</a:t>
            </a:r>
            <a:r>
              <a:rPr lang="zh-CN" altLang="en-US" sz="1200" dirty="0"/>
              <a:t>推送</a:t>
            </a:r>
            <a:r>
              <a:rPr lang="en-US" altLang="zh-CN" sz="1200" dirty="0"/>
              <a:t>PR</a:t>
            </a:r>
            <a:r>
              <a:rPr lang="zh-CN" altLang="en-US" sz="1200" dirty="0"/>
              <a:t>代码到检视系统，启动</a:t>
            </a:r>
            <a:r>
              <a:rPr lang="en-US" altLang="zh-CN" sz="1200" dirty="0"/>
              <a:t>Committer</a:t>
            </a:r>
            <a:r>
              <a:rPr lang="zh-CN" altLang="en-US" sz="1200" dirty="0"/>
              <a:t>检视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0024" y="2538990"/>
            <a:ext cx="132763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Committer</a:t>
            </a:r>
            <a:r>
              <a:rPr lang="zh-CN" altLang="en-US" sz="1200" dirty="0"/>
              <a:t>在</a:t>
            </a:r>
            <a:r>
              <a:rPr lang="en-US" altLang="zh-CN" sz="1200" dirty="0"/>
              <a:t>PR</a:t>
            </a:r>
            <a:r>
              <a:rPr lang="zh-CN" altLang="en-US" sz="1200" dirty="0"/>
              <a:t>评论区给出评审问题或者结论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44455" y="2538988"/>
            <a:ext cx="132763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Contributor</a:t>
            </a:r>
            <a:r>
              <a:rPr lang="zh-CN" altLang="en-US" sz="1200" dirty="0"/>
              <a:t>闭环</a:t>
            </a:r>
            <a:r>
              <a:rPr lang="en-US" altLang="zh-CN" sz="1200" dirty="0"/>
              <a:t>PR</a:t>
            </a:r>
            <a:r>
              <a:rPr lang="zh-CN" altLang="en-US" sz="1200" dirty="0"/>
              <a:t>评论区问题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51980" y="2554337"/>
            <a:ext cx="132763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查看门禁构建结果，需要开发者解决发现的问题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流程图: 联系 15"/>
          <p:cNvSpPr/>
          <p:nvPr/>
        </p:nvSpPr>
        <p:spPr>
          <a:xfrm>
            <a:off x="9215799" y="3376600"/>
            <a:ext cx="96716" cy="10550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0161" y="1221990"/>
            <a:ext cx="11978054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代码审核流程是一个开源的代码审核工具，用于对代码进行审核和评论。它支持多仓项目、多用户，并可以针对不同仓使用不同的审核策略和工作流。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900" dirty="0"/>
              <a:t>首先，代码审查的最大的功用是纯社会性的。如果你在编程，而且知道将会有同事检查你的代码，你编程态度就完全不一样了。你写出的代码将更加整洁，有更好的注释和程序结构。 其次，偷懒是人的天性，从节约成本的角度考虑，大家一般会选择在测试之前无限制的</a:t>
            </a:r>
            <a:r>
              <a:rPr lang="en-US" altLang="zh-CN" sz="900" dirty="0"/>
              <a:t>Delay Code Review</a:t>
            </a:r>
            <a:r>
              <a:rPr lang="zh-CN" altLang="en-US" sz="900" dirty="0"/>
              <a:t>。入库前做</a:t>
            </a:r>
            <a:r>
              <a:rPr lang="en-US" altLang="zh-CN" sz="900" dirty="0"/>
              <a:t>Code Review</a:t>
            </a:r>
            <a:r>
              <a:rPr lang="zh-CN" altLang="en-US" sz="900" dirty="0"/>
              <a:t>便是成本和效果之间最佳平衡点，它能及时发现问题，进行修改后确保代码质量。 最后，代码审查能传播知识。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159505" y="2554337"/>
            <a:ext cx="1428754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检视</a:t>
            </a:r>
            <a:r>
              <a:rPr lang="en-US" altLang="zh-CN" sz="1200" dirty="0"/>
              <a:t>+</a:t>
            </a:r>
            <a:r>
              <a:rPr lang="zh-CN" altLang="en-US" sz="1200" dirty="0"/>
              <a:t>门禁检查通过；</a:t>
            </a:r>
            <a:r>
              <a:rPr lang="en-US" altLang="zh-CN" sz="1200" dirty="0"/>
              <a:t>Committer</a:t>
            </a:r>
            <a:r>
              <a:rPr lang="zh-CN" altLang="en-US" sz="1200" dirty="0"/>
              <a:t>才能评审通过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流程图: 联系 18"/>
          <p:cNvSpPr/>
          <p:nvPr/>
        </p:nvSpPr>
        <p:spPr>
          <a:xfrm>
            <a:off x="10823324" y="3376600"/>
            <a:ext cx="96716" cy="10550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0161" y="2104780"/>
            <a:ext cx="2069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4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检视的流程：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20161" y="3664599"/>
            <a:ext cx="2787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4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检视设置的多种策略：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48109" y="4089992"/>
            <a:ext cx="63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多</a:t>
            </a:r>
            <a:r>
              <a:rPr lang="en-US" altLang="zh-CN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 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独立评审机制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：某个责任田或者仓存在多个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Committer,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每个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权限相同，都可以给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评审通过；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48109" y="4578948"/>
            <a:ext cx="622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主</a:t>
            </a:r>
            <a:r>
              <a:rPr lang="en-US" altLang="zh-CN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 + 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多个副</a:t>
            </a:r>
            <a:r>
              <a:rPr lang="en-US" altLang="zh-CN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 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评审机制：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主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具备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评审通过权限，其他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只能给评审意见；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48109" y="5067904"/>
            <a:ext cx="63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多</a:t>
            </a:r>
            <a:r>
              <a:rPr lang="en-US" altLang="zh-CN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 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联合评审机制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检视评审至少两名及以上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评审通过，才算评审通过；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48109" y="5556860"/>
            <a:ext cx="6337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@assign 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骨干开发者评审机制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检视评审至少两名及以上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评审通过，才算评审通过；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48109" y="6045817"/>
            <a:ext cx="4339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2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禁止自提自审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自己提的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PR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不能自己评审通过；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985135" y="3664599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Committer</a:t>
            </a:r>
            <a:r>
              <a:rPr lang="zh-CN" altLang="en-US" sz="14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14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KPI </a:t>
            </a:r>
            <a:r>
              <a:rPr lang="zh-CN" altLang="en-US" sz="14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考核指标：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292" y="4217466"/>
            <a:ext cx="2774327" cy="2323901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0221051" y="4698572"/>
            <a:ext cx="1560641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检视评论数、检视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PR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涉及的代码改动量、检视发现的有效问题数等</a:t>
            </a:r>
          </a:p>
        </p:txBody>
      </p:sp>
    </p:spTree>
    <p:extLst>
      <p:ext uri="{BB962C8B-B14F-4D97-AF65-F5344CB8AC3E}">
        <p14:creationId xmlns:p14="http://schemas.microsoft.com/office/powerpoint/2010/main" val="93874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 txBox="1">
            <a:spLocks/>
          </p:cNvSpPr>
          <p:nvPr/>
        </p:nvSpPr>
        <p:spPr>
          <a:xfrm>
            <a:off x="222362" y="171960"/>
            <a:ext cx="11736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实践</a:t>
            </a:r>
            <a:r>
              <a:rPr lang="en-US" altLang="zh-CN" dirty="0">
                <a:sym typeface="微软雅黑" panose="020B0503020204020204" pitchFamily="34" charset="-122"/>
              </a:rPr>
              <a:t>4</a:t>
            </a:r>
            <a:r>
              <a:rPr lang="zh-CN" altLang="en-US" dirty="0">
                <a:sym typeface="微软雅黑" panose="020B0503020204020204" pitchFamily="34" charset="-122"/>
              </a:rPr>
              <a:t>：精准代码门禁，建立</a:t>
            </a:r>
            <a:r>
              <a:rPr lang="en-US" altLang="zh-CN" dirty="0">
                <a:sym typeface="微软雅黑" panose="020B0503020204020204" pitchFamily="34" charset="-122"/>
              </a:rPr>
              <a:t>PR</a:t>
            </a:r>
            <a:r>
              <a:rPr lang="zh-CN" altLang="en-US" dirty="0">
                <a:sym typeface="微软雅黑" panose="020B0503020204020204" pitchFamily="34" charset="-122"/>
              </a:rPr>
              <a:t>与仓、设备形态、测试用例的关联关系，提升门禁执行效率</a:t>
            </a:r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201125" y="1158083"/>
            <a:ext cx="117792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识别开发者提交</a:t>
            </a:r>
            <a:r>
              <a:rPr lang="en-US" altLang="zh-CN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  <a:r>
              <a: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影响的仓和设备型号，并查找到</a:t>
            </a:r>
            <a:r>
              <a:rPr lang="en-US" altLang="zh-CN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  <a:r>
              <a: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影响部件的测试用例集，用于门禁的精准验证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51925" y="1695009"/>
            <a:ext cx="8313910" cy="1830388"/>
            <a:chOff x="251925" y="1695009"/>
            <a:chExt cx="8313910" cy="1830388"/>
          </a:xfrm>
        </p:grpSpPr>
        <p:sp>
          <p:nvSpPr>
            <p:cNvPr id="5" name="文本框 5">
              <a:extLst>
                <a:ext uri="{FF2B5EF4-FFF2-40B4-BE49-F238E27FC236}">
                  <a16:creationId xmlns:a16="http://schemas.microsoft.com/office/drawing/2014/main" id="{EDD11A9A-AC78-4CB3-8C88-93B31B770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7713" y="1695009"/>
              <a:ext cx="1593780" cy="30638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>
              <a:spAutoFit/>
            </a:bodyPr>
            <a:lstStyle>
              <a:defPPr>
                <a:defRPr lang="zh-CN"/>
              </a:defPPr>
              <a:lvl1pPr defTabSz="1219200" eaLnBrk="1" fontAlgn="auto" hangingPunct="1">
                <a:spcBef>
                  <a:spcPts val="0"/>
                </a:spcBef>
                <a:spcAft>
                  <a:spcPts val="0"/>
                </a:spcAft>
                <a:defRPr sz="1200" b="1" ker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algn="ctr">
                <a:defRPr/>
              </a:pPr>
              <a:r>
                <a:rPr lang="zh-CN" altLang="en-US" dirty="0"/>
                <a:t>代码门禁</a:t>
              </a:r>
            </a:p>
          </p:txBody>
        </p:sp>
        <p:sp>
          <p:nvSpPr>
            <p:cNvPr id="6" name="文本框 7">
              <a:extLst>
                <a:ext uri="{FF2B5EF4-FFF2-40B4-BE49-F238E27FC236}">
                  <a16:creationId xmlns:a16="http://schemas.microsoft.com/office/drawing/2014/main" id="{D4A21C53-7559-40BA-ACA7-4E0FC4C31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3500" y="1709297"/>
              <a:ext cx="671513" cy="30638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none">
              <a:spAutoFit/>
            </a:bodyPr>
            <a:lstStyle>
              <a:defPPr>
                <a:defRPr lang="zh-CN"/>
              </a:defPPr>
              <a:lvl1pPr defTabSz="1219200" eaLnBrk="1" fontAlgn="auto" hangingPunct="1">
                <a:spcBef>
                  <a:spcPts val="0"/>
                </a:spcBef>
                <a:spcAft>
                  <a:spcPts val="0"/>
                </a:spcAft>
                <a:defRPr sz="1200" b="1" ker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>
                <a:defRPr/>
              </a:pPr>
              <a:r>
                <a:rPr lang="zh-CN" altLang="en-US" dirty="0"/>
                <a:t>源代码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1414F05-2352-4F46-BE07-A03AD005E1C0}"/>
                </a:ext>
              </a:extLst>
            </p:cNvPr>
            <p:cNvSpPr txBox="1"/>
            <p:nvPr/>
          </p:nvSpPr>
          <p:spPr bwMode="auto">
            <a:xfrm>
              <a:off x="251925" y="1709297"/>
              <a:ext cx="1171575" cy="30638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 dirty="0">
                  <a:solidFill>
                    <a:schemeClr val="bg1"/>
                  </a:solidFill>
                </a:rPr>
                <a:t>Pull Request</a:t>
              </a:r>
              <a:endParaRPr lang="zh-CN" altLang="en-US" kern="0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组合 10"/>
            <p:cNvGrpSpPr>
              <a:grpSpLocks/>
            </p:cNvGrpSpPr>
            <p:nvPr/>
          </p:nvGrpSpPr>
          <p:grpSpPr bwMode="auto">
            <a:xfrm>
              <a:off x="592533" y="2494982"/>
              <a:ext cx="454818" cy="621066"/>
              <a:chOff x="800100" y="1747656"/>
              <a:chExt cx="454840" cy="620980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F6D8FAD7-591C-46B2-AAEF-8404BF9BFD7C}"/>
                  </a:ext>
                </a:extLst>
              </p:cNvPr>
              <p:cNvSpPr/>
              <p:nvPr/>
            </p:nvSpPr>
            <p:spPr bwMode="auto">
              <a:xfrm>
                <a:off x="945274" y="1747783"/>
                <a:ext cx="155583" cy="134919"/>
              </a:xfrm>
              <a:prstGeom prst="ellipse">
                <a:avLst/>
              </a:prstGeom>
              <a:noFill/>
              <a:ln w="9525" algn="ctr">
                <a:solidFill>
                  <a:sysClr val="window" lastClr="FFFFFF">
                    <a:lumMod val="65000"/>
                  </a:sysClr>
                </a:solidFill>
                <a:prstDash val="solid"/>
                <a:round/>
              </a:ln>
              <a:effectLst/>
            </p:spPr>
            <p:txBody>
              <a:bodyPr lIns="91424" tIns="45712" rIns="91424" bIns="45712" anchor="ctr"/>
              <a:lstStyle/>
              <a:p>
                <a:pPr algn="ctr" defTabSz="1219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400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40" name="直接连接符 12"/>
              <p:cNvCxnSpPr>
                <a:cxnSpLocks noChangeShapeType="1"/>
              </p:cNvCxnSpPr>
              <p:nvPr/>
            </p:nvCxnSpPr>
            <p:spPr bwMode="auto">
              <a:xfrm>
                <a:off x="800100" y="2022768"/>
                <a:ext cx="4548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直接连接符 13"/>
              <p:cNvCxnSpPr>
                <a:cxnSpLocks noChangeShapeType="1"/>
                <a:stCxn id="39" idx="4"/>
              </p:cNvCxnSpPr>
              <p:nvPr/>
            </p:nvCxnSpPr>
            <p:spPr bwMode="auto">
              <a:xfrm>
                <a:off x="1023504" y="1882246"/>
                <a:ext cx="0" cy="2657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直接连接符 14"/>
              <p:cNvCxnSpPr>
                <a:cxnSpLocks noChangeShapeType="1"/>
                <a:stCxn id="39" idx="4"/>
              </p:cNvCxnSpPr>
              <p:nvPr/>
            </p:nvCxnSpPr>
            <p:spPr bwMode="auto">
              <a:xfrm flipH="1">
                <a:off x="935181" y="2126678"/>
                <a:ext cx="77932" cy="2419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直接连接符 15"/>
              <p:cNvCxnSpPr>
                <a:cxnSpLocks noChangeShapeType="1"/>
                <a:stCxn id="39" idx="4"/>
              </p:cNvCxnSpPr>
              <p:nvPr/>
            </p:nvCxnSpPr>
            <p:spPr bwMode="auto">
              <a:xfrm>
                <a:off x="1033896" y="2122125"/>
                <a:ext cx="119452" cy="23774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" name="圆柱形 8">
              <a:extLst>
                <a:ext uri="{FF2B5EF4-FFF2-40B4-BE49-F238E27FC236}">
                  <a16:creationId xmlns:a16="http://schemas.microsoft.com/office/drawing/2014/main" id="{C66192E2-902E-44D7-99B7-699D1CE022E8}"/>
                </a:ext>
              </a:extLst>
            </p:cNvPr>
            <p:cNvSpPr/>
            <p:nvPr/>
          </p:nvSpPr>
          <p:spPr bwMode="auto">
            <a:xfrm>
              <a:off x="2215663" y="2280797"/>
              <a:ext cx="395287" cy="344487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圆柱形 9">
              <a:extLst>
                <a:ext uri="{FF2B5EF4-FFF2-40B4-BE49-F238E27FC236}">
                  <a16:creationId xmlns:a16="http://schemas.microsoft.com/office/drawing/2014/main" id="{9D83077B-C726-47AC-8F0B-2F305EAFA737}"/>
                </a:ext>
              </a:extLst>
            </p:cNvPr>
            <p:cNvSpPr/>
            <p:nvPr/>
          </p:nvSpPr>
          <p:spPr bwMode="auto">
            <a:xfrm>
              <a:off x="2237888" y="2709422"/>
              <a:ext cx="393700" cy="342900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圆柱形 10">
              <a:extLst>
                <a:ext uri="{FF2B5EF4-FFF2-40B4-BE49-F238E27FC236}">
                  <a16:creationId xmlns:a16="http://schemas.microsoft.com/office/drawing/2014/main" id="{19B476D3-9EA4-43BF-AA69-72E7B5157B38}"/>
                </a:ext>
              </a:extLst>
            </p:cNvPr>
            <p:cNvSpPr/>
            <p:nvPr/>
          </p:nvSpPr>
          <p:spPr bwMode="auto">
            <a:xfrm>
              <a:off x="3444388" y="2280797"/>
              <a:ext cx="395287" cy="344487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圆柱形 11">
              <a:extLst>
                <a:ext uri="{FF2B5EF4-FFF2-40B4-BE49-F238E27FC236}">
                  <a16:creationId xmlns:a16="http://schemas.microsoft.com/office/drawing/2014/main" id="{D553A4EF-3822-42E9-A651-0E2977F6B502}"/>
                </a:ext>
              </a:extLst>
            </p:cNvPr>
            <p:cNvSpPr/>
            <p:nvPr/>
          </p:nvSpPr>
          <p:spPr bwMode="auto">
            <a:xfrm>
              <a:off x="2818913" y="2280797"/>
              <a:ext cx="395287" cy="344487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圆柱形 12">
              <a:extLst>
                <a:ext uri="{FF2B5EF4-FFF2-40B4-BE49-F238E27FC236}">
                  <a16:creationId xmlns:a16="http://schemas.microsoft.com/office/drawing/2014/main" id="{58AF1F11-47F3-4EDC-8FE7-D559FE02F7B8}"/>
                </a:ext>
              </a:extLst>
            </p:cNvPr>
            <p:cNvSpPr/>
            <p:nvPr/>
          </p:nvSpPr>
          <p:spPr bwMode="auto">
            <a:xfrm>
              <a:off x="2244238" y="3182497"/>
              <a:ext cx="395287" cy="342900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圆柱形 13">
              <a:extLst>
                <a:ext uri="{FF2B5EF4-FFF2-40B4-BE49-F238E27FC236}">
                  <a16:creationId xmlns:a16="http://schemas.microsoft.com/office/drawing/2014/main" id="{5823EEAB-DB91-4410-A262-AD100B268958}"/>
                </a:ext>
              </a:extLst>
            </p:cNvPr>
            <p:cNvSpPr/>
            <p:nvPr/>
          </p:nvSpPr>
          <p:spPr bwMode="auto">
            <a:xfrm>
              <a:off x="2818913" y="3182497"/>
              <a:ext cx="395287" cy="342900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圆柱形 14">
              <a:extLst>
                <a:ext uri="{FF2B5EF4-FFF2-40B4-BE49-F238E27FC236}">
                  <a16:creationId xmlns:a16="http://schemas.microsoft.com/office/drawing/2014/main" id="{CD083F11-60B2-4161-B6B3-5DE2E16456DF}"/>
                </a:ext>
              </a:extLst>
            </p:cNvPr>
            <p:cNvSpPr/>
            <p:nvPr/>
          </p:nvSpPr>
          <p:spPr bwMode="auto">
            <a:xfrm>
              <a:off x="2818913" y="2709422"/>
              <a:ext cx="395287" cy="342900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圆柱形 15">
              <a:extLst>
                <a:ext uri="{FF2B5EF4-FFF2-40B4-BE49-F238E27FC236}">
                  <a16:creationId xmlns:a16="http://schemas.microsoft.com/office/drawing/2014/main" id="{4C810796-B268-4CE6-8591-078C214CEB9C}"/>
                </a:ext>
              </a:extLst>
            </p:cNvPr>
            <p:cNvSpPr/>
            <p:nvPr/>
          </p:nvSpPr>
          <p:spPr bwMode="auto">
            <a:xfrm>
              <a:off x="3444388" y="2709422"/>
              <a:ext cx="395287" cy="342900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圆柱形 16">
              <a:extLst>
                <a:ext uri="{FF2B5EF4-FFF2-40B4-BE49-F238E27FC236}">
                  <a16:creationId xmlns:a16="http://schemas.microsoft.com/office/drawing/2014/main" id="{B9BDDFD1-B15E-4B00-B2C4-1C37A9DF2763}"/>
                </a:ext>
              </a:extLst>
            </p:cNvPr>
            <p:cNvSpPr/>
            <p:nvPr/>
          </p:nvSpPr>
          <p:spPr bwMode="auto">
            <a:xfrm>
              <a:off x="3444388" y="3182497"/>
              <a:ext cx="395287" cy="342900"/>
            </a:xfrm>
            <a:prstGeom prst="can">
              <a:avLst/>
            </a:prstGeom>
            <a:solidFill>
              <a:srgbClr val="ED7D31">
                <a:lumMod val="20000"/>
                <a:lumOff val="80000"/>
              </a:srgbClr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8" name="直接箭头连接符 25"/>
            <p:cNvCxnSpPr>
              <a:cxnSpLocks noChangeShapeType="1"/>
              <a:stCxn id="39" idx="4"/>
            </p:cNvCxnSpPr>
            <p:nvPr/>
          </p:nvCxnSpPr>
          <p:spPr bwMode="auto">
            <a:xfrm>
              <a:off x="1233265" y="2795080"/>
              <a:ext cx="903966" cy="0"/>
            </a:xfrm>
            <a:prstGeom prst="straightConnector1">
              <a:avLst/>
            </a:prstGeom>
            <a:noFill/>
            <a:ln w="9525">
              <a:solidFill>
                <a:srgbClr val="2038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文本框 26"/>
            <p:cNvSpPr>
              <a:spLocks noChangeArrowheads="1"/>
            </p:cNvSpPr>
            <p:nvPr/>
          </p:nvSpPr>
          <p:spPr bwMode="auto">
            <a:xfrm>
              <a:off x="1294913" y="2288734"/>
              <a:ext cx="763587" cy="442674"/>
            </a:xfrm>
            <a:prstGeom prst="roundRect">
              <a:avLst>
                <a:gd name="adj" fmla="val 16667"/>
              </a:avLst>
            </a:prstGeom>
            <a:solidFill>
              <a:srgbClr val="DEEBF7"/>
            </a:solidFill>
            <a:ln w="9525" cap="rnd">
              <a:solidFill>
                <a:srgbClr val="197FC7"/>
              </a:solidFill>
              <a:prstDash val="sysDash"/>
              <a:round/>
              <a:headEnd/>
              <a:tailEnd/>
            </a:ln>
          </p:spPr>
          <p:txBody>
            <a:bodyPr>
              <a:spAutoFit/>
            </a:bodyPr>
            <a:lstStyle>
              <a:lvl1pPr defTabSz="12192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</a:t>
              </a:r>
              <a:r>
                <a:rPr lang="en-US" altLang="zh-CN" sz="1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</a:t>
              </a:r>
              <a:r>
                <a:rPr lang="zh-CN" altLang="en-US" sz="1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所属的仓</a:t>
              </a:r>
            </a:p>
          </p:txBody>
        </p:sp>
        <p:cxnSp>
          <p:nvCxnSpPr>
            <p:cNvPr id="20" name="直接箭头连接符 27"/>
            <p:cNvCxnSpPr>
              <a:cxnSpLocks noChangeShapeType="1"/>
              <a:stCxn id="39" idx="4"/>
            </p:cNvCxnSpPr>
            <p:nvPr/>
          </p:nvCxnSpPr>
          <p:spPr bwMode="auto">
            <a:xfrm flipV="1">
              <a:off x="4017396" y="2770133"/>
              <a:ext cx="1284357" cy="0"/>
            </a:xfrm>
            <a:prstGeom prst="straightConnector1">
              <a:avLst/>
            </a:prstGeom>
            <a:noFill/>
            <a:ln w="9525">
              <a:solidFill>
                <a:srgbClr val="2038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文本框 28"/>
            <p:cNvSpPr>
              <a:spLocks noChangeArrowheads="1"/>
            </p:cNvSpPr>
            <p:nvPr/>
          </p:nvSpPr>
          <p:spPr bwMode="auto">
            <a:xfrm>
              <a:off x="4104788" y="2269684"/>
              <a:ext cx="1054100" cy="442674"/>
            </a:xfrm>
            <a:prstGeom prst="roundRect">
              <a:avLst>
                <a:gd name="adj" fmla="val 16667"/>
              </a:avLst>
            </a:prstGeom>
            <a:solidFill>
              <a:srgbClr val="DEEBF7"/>
            </a:solidFill>
            <a:ln w="9525" cap="rnd">
              <a:solidFill>
                <a:srgbClr val="197FC7"/>
              </a:solidFill>
              <a:prstDash val="sysDash"/>
              <a:round/>
              <a:headEnd/>
              <a:tailEnd/>
            </a:ln>
          </p:spPr>
          <p:txBody>
            <a:bodyPr>
              <a:spAutoFit/>
            </a:bodyPr>
            <a:lstStyle>
              <a:lvl1pPr defTabSz="12192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0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查找仓影响部件及产品型号</a:t>
              </a:r>
            </a:p>
          </p:txBody>
        </p:sp>
        <p:cxnSp>
          <p:nvCxnSpPr>
            <p:cNvPr id="22" name="直接连接符 29"/>
            <p:cNvCxnSpPr>
              <a:cxnSpLocks noChangeShapeType="1"/>
              <a:stCxn id="39" idx="4"/>
            </p:cNvCxnSpPr>
            <p:nvPr/>
          </p:nvCxnSpPr>
          <p:spPr bwMode="auto">
            <a:xfrm>
              <a:off x="5429481" y="2320331"/>
              <a:ext cx="18287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3AC831E-533D-4B2F-8493-EC4BD0C7884B}"/>
                </a:ext>
              </a:extLst>
            </p:cNvPr>
            <p:cNvSpPr/>
            <p:nvPr/>
          </p:nvSpPr>
          <p:spPr bwMode="auto">
            <a:xfrm>
              <a:off x="5741500" y="2268097"/>
              <a:ext cx="82550" cy="90487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69B44EDF-9AA9-4BE7-B0D8-320AED77943F}"/>
                </a:ext>
              </a:extLst>
            </p:cNvPr>
            <p:cNvSpPr/>
            <p:nvPr/>
          </p:nvSpPr>
          <p:spPr bwMode="auto">
            <a:xfrm>
              <a:off x="6228863" y="2274447"/>
              <a:ext cx="84137" cy="90487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EE5421F-EB2A-4B79-9F5B-0A464D93C0B1}"/>
                </a:ext>
              </a:extLst>
            </p:cNvPr>
            <p:cNvSpPr/>
            <p:nvPr/>
          </p:nvSpPr>
          <p:spPr bwMode="auto">
            <a:xfrm>
              <a:off x="6652725" y="2280797"/>
              <a:ext cx="82550" cy="90487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6" name="直接连接符 33"/>
            <p:cNvCxnSpPr>
              <a:cxnSpLocks noChangeShapeType="1"/>
              <a:stCxn id="39" idx="4"/>
            </p:cNvCxnSpPr>
            <p:nvPr/>
          </p:nvCxnSpPr>
          <p:spPr bwMode="auto">
            <a:xfrm>
              <a:off x="5431954" y="2681535"/>
              <a:ext cx="18287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037B855-3015-4F2A-8559-F8EC8D62207B}"/>
                </a:ext>
              </a:extLst>
            </p:cNvPr>
            <p:cNvSpPr/>
            <p:nvPr/>
          </p:nvSpPr>
          <p:spPr bwMode="auto">
            <a:xfrm>
              <a:off x="5743088" y="2630047"/>
              <a:ext cx="84137" cy="90487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161F484D-838A-4E08-B412-9223A69DBDFE}"/>
                </a:ext>
              </a:extLst>
            </p:cNvPr>
            <p:cNvSpPr/>
            <p:nvPr/>
          </p:nvSpPr>
          <p:spPr bwMode="auto">
            <a:xfrm>
              <a:off x="6232038" y="2636397"/>
              <a:ext cx="82550" cy="90487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2F558851-C485-4910-8F46-E7656C543062}"/>
                </a:ext>
              </a:extLst>
            </p:cNvPr>
            <p:cNvSpPr/>
            <p:nvPr/>
          </p:nvSpPr>
          <p:spPr bwMode="auto">
            <a:xfrm>
              <a:off x="6654313" y="2642747"/>
              <a:ext cx="84137" cy="90487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0" name="直接连接符 37"/>
            <p:cNvCxnSpPr>
              <a:cxnSpLocks noChangeShapeType="1"/>
              <a:stCxn id="39" idx="4"/>
            </p:cNvCxnSpPr>
            <p:nvPr/>
          </p:nvCxnSpPr>
          <p:spPr bwMode="auto">
            <a:xfrm>
              <a:off x="5430361" y="3061951"/>
              <a:ext cx="18287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7827000-8C25-40FE-8D61-2B09F4F061F3}"/>
                </a:ext>
              </a:extLst>
            </p:cNvPr>
            <p:cNvSpPr/>
            <p:nvPr/>
          </p:nvSpPr>
          <p:spPr bwMode="auto">
            <a:xfrm>
              <a:off x="5741500" y="3009459"/>
              <a:ext cx="84138" cy="90488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B06EA077-A376-486C-BB2A-BE2E03D24CB0}"/>
                </a:ext>
              </a:extLst>
            </p:cNvPr>
            <p:cNvSpPr/>
            <p:nvPr/>
          </p:nvSpPr>
          <p:spPr bwMode="auto">
            <a:xfrm>
              <a:off x="6230450" y="3015809"/>
              <a:ext cx="82550" cy="90488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ct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AA2514AA-3564-4675-8897-5B501094B156}"/>
                </a:ext>
              </a:extLst>
            </p:cNvPr>
            <p:cNvSpPr/>
            <p:nvPr/>
          </p:nvSpPr>
          <p:spPr bwMode="auto">
            <a:xfrm>
              <a:off x="6652725" y="3023747"/>
              <a:ext cx="84138" cy="90487"/>
            </a:xfrm>
            <a:prstGeom prst="ellipse">
              <a:avLst/>
            </a:prstGeom>
            <a:solidFill>
              <a:sysClr val="windowText" lastClr="000000"/>
            </a:solidFill>
            <a:ln w="9525" algn="ctr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  <a:effectLst/>
          </p:spPr>
          <p:txBody>
            <a:bodyPr lIns="91424" tIns="45712" rIns="91424" bIns="45712" anchor="ctr"/>
            <a:lstStyle/>
            <a:p>
              <a:pPr algn="r" defTabSz="1219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ker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文本框 50"/>
            <p:cNvSpPr txBox="1">
              <a:spLocks noChangeArrowheads="1"/>
            </p:cNvSpPr>
            <p:nvPr/>
          </p:nvSpPr>
          <p:spPr bwMode="auto">
            <a:xfrm>
              <a:off x="7343186" y="2153834"/>
              <a:ext cx="734461" cy="27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192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Hi3861</a:t>
              </a:r>
              <a:endPara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51"/>
            <p:cNvSpPr txBox="1">
              <a:spLocks noChangeArrowheads="1"/>
            </p:cNvSpPr>
            <p:nvPr/>
          </p:nvSpPr>
          <p:spPr bwMode="auto">
            <a:xfrm>
              <a:off x="7343186" y="2432384"/>
              <a:ext cx="1222649" cy="27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192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Hi3516_liteos</a:t>
              </a:r>
              <a:endPara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52"/>
            <p:cNvSpPr txBox="1">
              <a:spLocks noChangeArrowheads="1"/>
            </p:cNvSpPr>
            <p:nvPr/>
          </p:nvSpPr>
          <p:spPr bwMode="auto">
            <a:xfrm>
              <a:off x="7343186" y="2710935"/>
              <a:ext cx="734461" cy="27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192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Hi3518</a:t>
              </a:r>
              <a:endPara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53"/>
            <p:cNvSpPr txBox="1">
              <a:spLocks noChangeArrowheads="1"/>
            </p:cNvSpPr>
            <p:nvPr/>
          </p:nvSpPr>
          <p:spPr bwMode="auto">
            <a:xfrm>
              <a:off x="7343186" y="2989487"/>
              <a:ext cx="1181678" cy="27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192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Hi3516_linux</a:t>
              </a:r>
              <a:endPara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54"/>
            <p:cNvSpPr txBox="1">
              <a:spLocks noChangeArrowheads="1"/>
            </p:cNvSpPr>
            <p:nvPr/>
          </p:nvSpPr>
          <p:spPr bwMode="auto">
            <a:xfrm>
              <a:off x="7511493" y="3149858"/>
              <a:ext cx="566154" cy="27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2192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 defTabSz="12192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defTabSz="1219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……..</a:t>
              </a:r>
              <a:endParaRPr lang="zh-CN" altLang="en-US"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9388C006-F31A-499D-AAB2-5321AFA96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308452"/>
              </p:ext>
            </p:extLst>
          </p:nvPr>
        </p:nvGraphicFramePr>
        <p:xfrm>
          <a:off x="201125" y="4204408"/>
          <a:ext cx="8915400" cy="2351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9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2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762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762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736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仓库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部件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L1_3518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L1_3516_LiteOS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L1_3516_Linux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3516liteos TS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3516linux TS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4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</a:rPr>
                        <a:t>ace_engine_lite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@</a:t>
                      </a:r>
                      <a:r>
                        <a:rPr lang="en-US" sz="800" u="none" strike="noStrike" dirty="0" err="1">
                          <a:effectLst/>
                        </a:rPr>
                        <a:t>ohos</a:t>
                      </a:r>
                      <a:r>
                        <a:rPr lang="en-US" sz="800" u="none" strike="noStrike" dirty="0">
                          <a:effectLst/>
                        </a:rPr>
                        <a:t>/</a:t>
                      </a:r>
                      <a:r>
                        <a:rPr lang="en-US" sz="800" u="none" strike="noStrike" dirty="0" err="1">
                          <a:effectLst/>
                        </a:rPr>
                        <a:t>ace_engine_lite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</a:rPr>
                        <a:t>js_frameworks_tdd_door.bin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js_frameworks_test_arc.bin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js_frameworks_test_cache_manager.bin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js_frameworks_test_console.bin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js_frameworks_test_data_binding.bin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js_frameworks_test_date_time.bin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js_frameworks_test_dfx.bin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js_frameworks_test_dialog.bin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js_frameworks_test_div.bin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js_frameworks_test_event_bubble.bin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js_frameworks_test_horizonprogress.bin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js_frameworks_test_marquee_event.bin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js_frameworks_test_number_format.bin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br>
                        <a:rPr lang="en-US" sz="800" u="none" strike="noStrike" dirty="0">
                          <a:effectLst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</a:rPr>
                        <a:t>js_frameworks_tdd_door.bin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js_frameworks_test_arc.bin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js_frameworks_test_cache_manager.bin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js_frameworks_test_console.bin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js_frameworks_test_data_binding.bin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js_frameworks_test_date_time.bin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js_frameworks_test_dfx.bin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js_frameworks_test_dialog.bin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js_frameworks_test_div.bin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js_frameworks_test_event_bubble.bin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js_frameworks_test_horizonprogress.bin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 err="1">
                          <a:effectLst/>
                        </a:rPr>
                        <a:t>js_frameworks_test_number_format.bin</a:t>
                      </a:r>
                      <a:r>
                        <a:rPr lang="en-US" sz="800" u="none" strike="noStrike" dirty="0">
                          <a:effectLst/>
                        </a:rPr>
                        <a:t>;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ai_engine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@ohos/ai_engine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Y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Y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ai_test_common_door.bin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ai_test_function_door.bin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</a:rPr>
                        <a:t>不涉及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5336" marR="5336" marT="5336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文本框 60">
            <a:extLst>
              <a:ext uri="{FF2B5EF4-FFF2-40B4-BE49-F238E27FC236}">
                <a16:creationId xmlns:a16="http://schemas.microsoft.com/office/drawing/2014/main" id="{E5EB9A2B-9FB2-4506-82B4-725249818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0238" y="5013325"/>
            <a:ext cx="1870075" cy="51117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cap="rnd">
            <a:solidFill>
              <a:srgbClr val="197FC7"/>
            </a:solidFill>
            <a:prstDash val="sysDash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b="1" dirty="0">
                <a:solidFill>
                  <a:srgbClr val="0070C0"/>
                </a:solidFill>
                <a:latin typeface="仿宋" pitchFamily="49" charset="-122"/>
                <a:ea typeface="仿宋" pitchFamily="49" charset="-122"/>
              </a:rPr>
              <a:t>建立部件、仓、型号、测试用例的对应关系</a:t>
            </a:r>
          </a:p>
        </p:txBody>
      </p:sp>
      <p:sp>
        <p:nvSpPr>
          <p:cNvPr id="46" name="矩形 61"/>
          <p:cNvSpPr>
            <a:spLocks noChangeArrowheads="1"/>
          </p:cNvSpPr>
          <p:nvPr/>
        </p:nvSpPr>
        <p:spPr bwMode="auto">
          <a:xfrm>
            <a:off x="3138734" y="3899760"/>
            <a:ext cx="117211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70C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代码门禁配置表</a:t>
            </a:r>
          </a:p>
        </p:txBody>
      </p:sp>
    </p:spTree>
    <p:extLst>
      <p:ext uri="{BB962C8B-B14F-4D97-AF65-F5344CB8AC3E}">
        <p14:creationId xmlns:p14="http://schemas.microsoft.com/office/powerpoint/2010/main" val="6274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23392" y="283977"/>
            <a:ext cx="11005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实践</a:t>
            </a:r>
            <a:r>
              <a:rPr lang="en-US" altLang="zh-CN" dirty="0">
                <a:sym typeface="微软雅黑" panose="020B0503020204020204" pitchFamily="34" charset="-122"/>
              </a:rPr>
              <a:t>5</a:t>
            </a:r>
            <a:r>
              <a:rPr lang="zh-CN" altLang="en-US" dirty="0">
                <a:sym typeface="微软雅黑" panose="020B0503020204020204" pitchFamily="34" charset="-122"/>
              </a:rPr>
              <a:t>：编译加速 </a:t>
            </a:r>
            <a:r>
              <a:rPr lang="en-US" altLang="zh-CN" dirty="0">
                <a:sym typeface="微软雅黑" panose="020B0503020204020204" pitchFamily="34" charset="-122"/>
              </a:rPr>
              <a:t>-- </a:t>
            </a:r>
            <a:r>
              <a:rPr lang="zh-CN" altLang="en-US" dirty="0"/>
              <a:t>并行编译</a:t>
            </a:r>
            <a:r>
              <a:rPr lang="en-US" altLang="zh-CN" dirty="0"/>
              <a:t>+</a:t>
            </a:r>
            <a:r>
              <a:rPr lang="zh-CN" altLang="en-US" dirty="0"/>
              <a:t>缓存</a:t>
            </a:r>
            <a:r>
              <a:rPr lang="en-US" altLang="zh-CN" dirty="0"/>
              <a:t>+</a:t>
            </a:r>
            <a:r>
              <a:rPr lang="zh-CN" altLang="en-US" dirty="0"/>
              <a:t>弹性资源池</a:t>
            </a:r>
            <a:r>
              <a:rPr lang="en-US" altLang="zh-CN" dirty="0"/>
              <a:t>+</a:t>
            </a:r>
            <a:r>
              <a:rPr lang="zh-CN" altLang="en-US" dirty="0"/>
              <a:t>数据</a:t>
            </a:r>
            <a:r>
              <a:rPr lang="en-US" altLang="zh-CN" dirty="0"/>
              <a:t>/</a:t>
            </a:r>
            <a:r>
              <a:rPr lang="zh-CN" altLang="en-US" dirty="0"/>
              <a:t>缓存同步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7094" y="1772660"/>
            <a:ext cx="4484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选择编译服务器的规格：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数目</a:t>
            </a:r>
          </a:p>
        </p:txBody>
      </p:sp>
      <p:sp>
        <p:nvSpPr>
          <p:cNvPr id="5" name="矩形 4"/>
          <p:cNvSpPr/>
          <p:nvPr/>
        </p:nvSpPr>
        <p:spPr>
          <a:xfrm>
            <a:off x="557093" y="1111666"/>
            <a:ext cx="11497159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在硬件条件允许，软件满足并行编译的情况下，优先通过提升编译服务器规格，满足编译时长要求；对于硬件资源不满足的时候，考虑使用分布式编译，通过分配多台设备做分布式计算完成编译时长要求；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57094" y="4129486"/>
            <a:ext cx="44849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编译服务器的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核数越少编译时长越长；随着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核数增加，编译时长明显下降；当规格调到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核后，再增加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数目，加速效果不再明显，甚至编译时长趋于一个常数；选择一个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点，在加速效果和代价上找到平衡点。那么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点的规格就是我们选择的编译服务器的规格；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609491" y="1772660"/>
            <a:ext cx="6444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当我们选择好编译服务器的规格后，是否采用分布式编译主要在于确认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核是否已经满足编译要求，并且再增加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是否可以加速编译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单机验证即可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381676" y="2116838"/>
            <a:ext cx="3311093" cy="1932555"/>
            <a:chOff x="381676" y="2152006"/>
            <a:chExt cx="3311093" cy="1932555"/>
          </a:xfrm>
        </p:grpSpPr>
        <p:cxnSp>
          <p:nvCxnSpPr>
            <p:cNvPr id="7" name="直接箭头连接符 6"/>
            <p:cNvCxnSpPr/>
            <p:nvPr/>
          </p:nvCxnSpPr>
          <p:spPr>
            <a:xfrm flipV="1">
              <a:off x="756138" y="3727938"/>
              <a:ext cx="29366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H="1" flipV="1">
              <a:off x="756137" y="2152006"/>
              <a:ext cx="1" cy="15759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381676" y="2622225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编译时长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562172" y="3552091"/>
              <a:ext cx="7537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核数</a:t>
              </a:r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1018441" y="2191178"/>
              <a:ext cx="2558561" cy="1223210"/>
            </a:xfrm>
            <a:custGeom>
              <a:avLst/>
              <a:gdLst>
                <a:gd name="connsiteX0" fmla="*/ 0 w 1820007"/>
                <a:gd name="connsiteY0" fmla="*/ 0 h 1081454"/>
                <a:gd name="connsiteX1" fmla="*/ 351692 w 1820007"/>
                <a:gd name="connsiteY1" fmla="*/ 923193 h 1081454"/>
                <a:gd name="connsiteX2" fmla="*/ 351692 w 1820007"/>
                <a:gd name="connsiteY2" fmla="*/ 923193 h 1081454"/>
                <a:gd name="connsiteX3" fmla="*/ 756138 w 1820007"/>
                <a:gd name="connsiteY3" fmla="*/ 1046285 h 1081454"/>
                <a:gd name="connsiteX4" fmla="*/ 1820007 w 1820007"/>
                <a:gd name="connsiteY4" fmla="*/ 1081454 h 1081454"/>
                <a:gd name="connsiteX5" fmla="*/ 1820007 w 1820007"/>
                <a:gd name="connsiteY5" fmla="*/ 1081454 h 108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0007" h="1081454">
                  <a:moveTo>
                    <a:pt x="0" y="0"/>
                  </a:moveTo>
                  <a:lnTo>
                    <a:pt x="351692" y="923193"/>
                  </a:lnTo>
                  <a:lnTo>
                    <a:pt x="351692" y="923193"/>
                  </a:lnTo>
                  <a:cubicBezTo>
                    <a:pt x="419100" y="943708"/>
                    <a:pt x="511419" y="1019908"/>
                    <a:pt x="756138" y="1046285"/>
                  </a:cubicBezTo>
                  <a:cubicBezTo>
                    <a:pt x="1000857" y="1072662"/>
                    <a:pt x="1820007" y="1081454"/>
                    <a:pt x="1820007" y="1081454"/>
                  </a:cubicBezTo>
                  <a:lnTo>
                    <a:pt x="1820007" y="1081454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联系 18"/>
            <p:cNvSpPr/>
            <p:nvPr/>
          </p:nvSpPr>
          <p:spPr>
            <a:xfrm>
              <a:off x="1468317" y="3697165"/>
              <a:ext cx="79131" cy="6154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流程图: 联系 21"/>
            <p:cNvSpPr/>
            <p:nvPr/>
          </p:nvSpPr>
          <p:spPr>
            <a:xfrm>
              <a:off x="978877" y="3691306"/>
              <a:ext cx="79131" cy="6154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73721" y="3815858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05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单核</a:t>
              </a:r>
            </a:p>
          </p:txBody>
        </p:sp>
        <p:cxnSp>
          <p:nvCxnSpPr>
            <p:cNvPr id="25" name="直接连接符 24"/>
            <p:cNvCxnSpPr>
              <a:stCxn id="18" idx="0"/>
              <a:endCxn id="22" idx="0"/>
            </p:cNvCxnSpPr>
            <p:nvPr/>
          </p:nvCxnSpPr>
          <p:spPr>
            <a:xfrm>
              <a:off x="1018441" y="2191178"/>
              <a:ext cx="2" cy="150012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18" idx="1"/>
              <a:endCxn id="19" idx="0"/>
            </p:cNvCxnSpPr>
            <p:nvPr/>
          </p:nvCxnSpPr>
          <p:spPr>
            <a:xfrm flipH="1">
              <a:off x="1507883" y="3235382"/>
              <a:ext cx="4966" cy="46178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1320463" y="3807600"/>
              <a:ext cx="40588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05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X</a:t>
              </a:r>
              <a:r>
                <a:rPr lang="zh-CN" altLang="en-US" dirty="0"/>
                <a:t>核</a:t>
              </a:r>
            </a:p>
          </p:txBody>
        </p:sp>
        <p:sp>
          <p:nvSpPr>
            <p:cNvPr id="32" name="流程图: 联系 31"/>
            <p:cNvSpPr/>
            <p:nvPr/>
          </p:nvSpPr>
          <p:spPr>
            <a:xfrm>
              <a:off x="1992978" y="3691306"/>
              <a:ext cx="79131" cy="6154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829603" y="3830645"/>
              <a:ext cx="40588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05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T</a:t>
              </a:r>
              <a:r>
                <a:rPr lang="zh-CN" altLang="en-US" dirty="0"/>
                <a:t>核</a:t>
              </a:r>
            </a:p>
          </p:txBody>
        </p:sp>
        <p:sp>
          <p:nvSpPr>
            <p:cNvPr id="34" name="等腰三角形 33"/>
            <p:cNvSpPr/>
            <p:nvPr/>
          </p:nvSpPr>
          <p:spPr>
            <a:xfrm>
              <a:off x="1981352" y="3779385"/>
              <a:ext cx="101693" cy="87862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377599" y="2956872"/>
              <a:ext cx="5693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临界点</a:t>
              </a:r>
            </a:p>
          </p:txBody>
        </p:sp>
      </p:grpSp>
      <p:pic>
        <p:nvPicPr>
          <p:cNvPr id="13314" name="Picture 2" descr="https://ask.qcloudimg.com/http-save/637314/wpdrxtpn2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127" y="2261107"/>
            <a:ext cx="3000387" cy="184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文本框 37"/>
          <p:cNvSpPr txBox="1"/>
          <p:nvPr/>
        </p:nvSpPr>
        <p:spPr>
          <a:xfrm>
            <a:off x="557094" y="4888955"/>
            <a:ext cx="4484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在并行编译的基础上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 提升编译速度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9124946" y="2411580"/>
            <a:ext cx="2929307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分布式编译需要解决编译环境准备、源码数据传输、分布式编译缓存、链接时的二进制文件传输；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如果单机规格足够，没必要做分布式编译；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因为分布式编译的本质仍是使用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–J CPU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数目 做并行编译；</a:t>
            </a:r>
          </a:p>
        </p:txBody>
      </p:sp>
      <p:pic>
        <p:nvPicPr>
          <p:cNvPr id="13316" name="Picture 4" descr="http://p2.itc.cn/q_70/images03/20201217/6649f93a443240e5802a0804ee0f061f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1" y="5208213"/>
            <a:ext cx="4309094" cy="149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文本框 41"/>
          <p:cNvSpPr txBox="1"/>
          <p:nvPr/>
        </p:nvSpPr>
        <p:spPr>
          <a:xfrm>
            <a:off x="5609491" y="4314121"/>
            <a:ext cx="5812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化弹性编译资源池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Docker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克隆（源码数据同步）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编译缓存同步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246" y="4799647"/>
            <a:ext cx="3579185" cy="1747886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9486900" y="4799647"/>
            <a:ext cx="2444261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关键技术：</a:t>
            </a:r>
            <a:endParaRPr lang="en-US" altLang="zh-CN" sz="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  <a:p>
            <a:pPr marL="244916" indent="-24491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实时克隆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：母卷代码预热，构建时克隆，确保构建环境一致性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44916" indent="-24491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缓存刷新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：母卷滚动生成</a:t>
            </a:r>
            <a:r>
              <a:rPr lang="en-US" altLang="zh-CN" sz="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xcache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jcache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ccache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44916" indent="-24491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Ninja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热启动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：母卷预热执行</a:t>
            </a:r>
            <a:r>
              <a:rPr lang="en-US" altLang="zh-CN" sz="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soong&amp;kati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，生效基线代码的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ninja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</a:p>
        </p:txBody>
      </p:sp>
    </p:spTree>
    <p:extLst>
      <p:ext uri="{BB962C8B-B14F-4D97-AF65-F5344CB8AC3E}">
        <p14:creationId xmlns:p14="http://schemas.microsoft.com/office/powerpoint/2010/main" val="412479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16584" y="155157"/>
            <a:ext cx="11005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/>
              <a:t>实践</a:t>
            </a:r>
            <a:r>
              <a:rPr lang="en-US" altLang="zh-CN" dirty="0"/>
              <a:t>6</a:t>
            </a:r>
            <a:r>
              <a:rPr lang="zh-CN" altLang="en-US" dirty="0"/>
              <a:t>：编译加速 </a:t>
            </a:r>
            <a:r>
              <a:rPr lang="en-US" altLang="zh-CN" dirty="0"/>
              <a:t>-- </a:t>
            </a:r>
            <a:r>
              <a:rPr lang="zh-CN" altLang="en-US" dirty="0"/>
              <a:t>架构</a:t>
            </a:r>
            <a:r>
              <a:rPr lang="en-US" altLang="zh-CN" dirty="0"/>
              <a:t>&amp;</a:t>
            </a:r>
            <a:r>
              <a:rPr lang="zh-CN" altLang="en-US" dirty="0"/>
              <a:t>编译脚本整改，实现源码与二进制的精准依赖，降低解析依赖关系的时长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7094" y="1772660"/>
            <a:ext cx="4484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头文件整改</a:t>
            </a:r>
          </a:p>
        </p:txBody>
      </p:sp>
      <p:sp>
        <p:nvSpPr>
          <p:cNvPr id="5" name="矩形 4"/>
          <p:cNvSpPr/>
          <p:nvPr/>
        </p:nvSpPr>
        <p:spPr>
          <a:xfrm>
            <a:off x="557093" y="1086051"/>
            <a:ext cx="11355273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编译耗时集中在确定本次编译影响的文件范围和并行编译的速度。编译影响的文件范围就是靠编译依赖关系计算获得，鉴于原有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脚本在解析依赖关系时太灵活，导致解析时间长。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09491" y="1772660"/>
            <a:ext cx="6444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并行编译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增量编译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远程执行；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7094" y="4223503"/>
            <a:ext cx="4946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编译脚本整改：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Bazel </a:t>
            </a:r>
            <a:r>
              <a:rPr lang="zh-CN" altLang="en-US" sz="1200" b="1" dirty="0"/>
              <a:t>基于制品 </a:t>
            </a:r>
            <a:r>
              <a:rPr lang="en-US" altLang="zh-CN" sz="1200" b="1" dirty="0"/>
              <a:t>(Artifact) + </a:t>
            </a:r>
            <a:r>
              <a:rPr lang="zh-CN" altLang="en-US" sz="1200" b="1" dirty="0"/>
              <a:t>规则 （</a:t>
            </a:r>
            <a:r>
              <a:rPr lang="en-US" altLang="zh-CN" sz="1200" b="1" dirty="0"/>
              <a:t> rule </a:t>
            </a:r>
            <a:r>
              <a:rPr lang="zh-CN" altLang="en-US" sz="1200" b="1" dirty="0"/>
              <a:t>）调度模型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09491" y="4031223"/>
            <a:ext cx="5812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降低增量编译的失效场景，采用远程缓存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远程执行提升编译效率</a:t>
            </a:r>
          </a:p>
        </p:txBody>
      </p:sp>
      <p:sp>
        <p:nvSpPr>
          <p:cNvPr id="9" name="矩形 8"/>
          <p:cNvSpPr/>
          <p:nvPr/>
        </p:nvSpPr>
        <p:spPr>
          <a:xfrm>
            <a:off x="792308" y="2085070"/>
            <a:ext cx="388270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、要求头文件集中在依赖树根部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、头文件引用采用相对路径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、显示指定头文件路径</a:t>
            </a:r>
          </a:p>
        </p:txBody>
      </p:sp>
      <p:pic>
        <p:nvPicPr>
          <p:cNvPr id="16386" name="Picture 2" descr="https://static001.geekbang.org/infoq/8b/8b095ca41f614da1dd4ae6b80f8d3ab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08" y="4673371"/>
            <a:ext cx="3049153" cy="143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08" y="2723164"/>
            <a:ext cx="2823390" cy="121532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3" name="文本框 12"/>
          <p:cNvSpPr txBox="1"/>
          <p:nvPr/>
        </p:nvSpPr>
        <p:spPr>
          <a:xfrm>
            <a:off x="3698077" y="2799913"/>
            <a:ext cx="163933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使用头文件保护符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头文件应当自包含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头文件不应该包含无用的头文件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禁止头文件循环依赖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头文件功能应该单一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对外接口与对内接口分开</a:t>
            </a:r>
          </a:p>
        </p:txBody>
      </p:sp>
      <p:sp>
        <p:nvSpPr>
          <p:cNvPr id="14" name="矩形 13"/>
          <p:cNvSpPr/>
          <p:nvPr/>
        </p:nvSpPr>
        <p:spPr>
          <a:xfrm>
            <a:off x="1488102" y="3957895"/>
            <a:ext cx="14318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头文件依赖扫描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DAG</a:t>
            </a: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3392" y="6173840"/>
            <a:ext cx="42863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表示原始文件，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表示构建时生成的文件。当用户告诉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Bazel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要构建某个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的时候，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Bazel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会分析这个文件如何构建（构建动作定义为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），如果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依赖了其他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Bazel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会进一步分析依赖的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又是如何构建生成的，这样一层层分析下去，最终形成完整的执行计划。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90" name="Picture 6" descr="https://static001.geekbang.org/infoq/20/20a004ea4e1fed60c0087366c97c200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592" y="2164368"/>
            <a:ext cx="1682040" cy="92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/>
          <p:cNvSpPr/>
          <p:nvPr/>
        </p:nvSpPr>
        <p:spPr>
          <a:xfrm>
            <a:off x="5725297" y="3364764"/>
            <a:ext cx="18583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Bazel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可以通过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使用的文件来判断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是否可以并发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92" name="Picture 8" descr="https://static001.geekbang.org/infoq/79/797c5ee70a43c6ae754042d6f048ebef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325" y="2129557"/>
            <a:ext cx="1627317" cy="99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/>
          <p:cNvSpPr/>
          <p:nvPr/>
        </p:nvSpPr>
        <p:spPr>
          <a:xfrm>
            <a:off x="7702325" y="3350567"/>
            <a:ext cx="223490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输入文件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编译命令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环境信息 </a:t>
            </a:r>
            <a:r>
              <a:rPr lang="en-US" altLang="zh-CN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8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输出文件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38592" y="3716016"/>
            <a:ext cx="4336586" cy="2154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增量编译就是在判断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Inputs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Commands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Envs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三者的变化；三者无变化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就不用执行</a:t>
            </a:r>
          </a:p>
        </p:txBody>
      </p:sp>
      <p:pic>
        <p:nvPicPr>
          <p:cNvPr id="16394" name="Picture 10" descr="https://static001.geekbang.org/infoq/0e/0e18a6d7fc30b07c902c6f4b1d31a7e3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328" y="2224623"/>
            <a:ext cx="2258232" cy="53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6" name="Picture 12" descr="https://static001.geekbang.org/infoq/36/36ef7c79e58234bf0ca42139fe99ec34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656" y="5107189"/>
            <a:ext cx="2950792" cy="155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 18"/>
          <p:cNvSpPr/>
          <p:nvPr/>
        </p:nvSpPr>
        <p:spPr>
          <a:xfrm>
            <a:off x="10149675" y="2977353"/>
            <a:ext cx="1762691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Bazel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采用了 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Client/Server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架构，当用户键入 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bazel build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命令时，调用的是 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bazel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client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工具，而 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client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会拉起 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，并通过 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grpc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协议将请求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(buildRequest)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发送给它。由 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负责配置的加载，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ActionGraph </a:t>
            </a: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的生成和执行。</a:t>
            </a:r>
          </a:p>
        </p:txBody>
      </p:sp>
      <p:sp>
        <p:nvSpPr>
          <p:cNvPr id="20" name="矩形 19"/>
          <p:cNvSpPr/>
          <p:nvPr/>
        </p:nvSpPr>
        <p:spPr>
          <a:xfrm>
            <a:off x="5714656" y="4289205"/>
            <a:ext cx="6197710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atinLnBrk="1"/>
            <a:r>
              <a:rPr lang="zh-CN" altLang="en-US" sz="11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增量构建极大的提升了本地研发的构建效率，但有些场合它的效果不是很好，例如 </a:t>
            </a:r>
            <a:r>
              <a:rPr lang="en-US" altLang="zh-CN" sz="11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 </a:t>
            </a:r>
            <a:r>
              <a:rPr lang="zh-CN" altLang="en-US" sz="11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环境通常采用“干净”的容器，此时没有上一次的构建数据，只能全量构建。</a:t>
            </a:r>
          </a:p>
          <a:p>
            <a:pPr latinLnBrk="1"/>
            <a:r>
              <a:rPr lang="zh-CN" altLang="en-US" sz="11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即使是本地研发，如果从远端同步代码时修改了全局参数，也会导致增量构建失效；</a:t>
            </a:r>
            <a:r>
              <a:rPr lang="zh-CN" altLang="en-US" sz="1100" dirty="0"/>
              <a:t>缓存</a:t>
            </a:r>
            <a:r>
              <a:rPr lang="en-US" altLang="zh-CN" sz="1100" dirty="0"/>
              <a:t>(Remote Cache)</a:t>
            </a:r>
            <a:r>
              <a:rPr lang="zh-CN" altLang="en-US" sz="1100" dirty="0"/>
              <a:t>与远程执行</a:t>
            </a:r>
            <a:r>
              <a:rPr lang="en-US" altLang="zh-CN" sz="1100" dirty="0"/>
              <a:t>(Remote Execution)</a:t>
            </a:r>
            <a:r>
              <a:rPr lang="zh-CN" altLang="en-US" sz="1100" dirty="0"/>
              <a:t>可以很好的解决这个问题。</a:t>
            </a:r>
            <a:endParaRPr lang="zh-CN" altLang="en-US" sz="1100" b="0" i="0" dirty="0">
              <a:solidFill>
                <a:srgbClr val="30303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09491" y="6631657"/>
            <a:ext cx="255390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b="1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 Addressable Storage(CAS)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98" name="Picture 14" descr="https://static001.geekbang.org/infoq/ff/ff4d4e0cf5fac714e03af8399b642b8b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136" y="5107190"/>
            <a:ext cx="2973730" cy="172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411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23392" y="283977"/>
            <a:ext cx="11005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/>
              <a:t>实践</a:t>
            </a:r>
            <a:r>
              <a:rPr lang="en-US" altLang="zh-CN" dirty="0"/>
              <a:t>7</a:t>
            </a:r>
            <a:r>
              <a:rPr lang="zh-CN" altLang="en-US" dirty="0"/>
              <a:t>：编译加速 </a:t>
            </a:r>
            <a:r>
              <a:rPr lang="en-US" altLang="zh-CN" dirty="0"/>
              <a:t>-- IWYU </a:t>
            </a:r>
            <a:r>
              <a:rPr lang="zh-CN" altLang="en-US" dirty="0"/>
              <a:t>消除头文件冗余</a:t>
            </a:r>
          </a:p>
        </p:txBody>
      </p:sp>
      <p:sp>
        <p:nvSpPr>
          <p:cNvPr id="4" name="矩形 3"/>
          <p:cNvSpPr/>
          <p:nvPr/>
        </p:nvSpPr>
        <p:spPr>
          <a:xfrm>
            <a:off x="419049" y="1521489"/>
            <a:ext cx="5122770" cy="954107"/>
          </a:xfrm>
          <a:prstGeom prst="rect">
            <a:avLst/>
          </a:prstGeom>
          <a:solidFill>
            <a:schemeClr val="bg1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include-what-you-use(</a:t>
            </a:r>
            <a:r>
              <a:rPr lang="zh-CN" altLang="en-US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以下简称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IWYU)</a:t>
            </a:r>
            <a:r>
              <a:rPr lang="zh-CN" altLang="en-US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推出的用来检查</a:t>
            </a:r>
            <a:r>
              <a:rPr lang="zh-CN" altLang="en-US" sz="1400" dirty="0">
                <a:solidFill>
                  <a:srgbClr val="FC553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头文件</a:t>
            </a:r>
            <a:r>
              <a:rPr lang="zh-CN" altLang="en-US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冗余的工具。原理是分辨出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#includes</a:t>
            </a:r>
            <a:r>
              <a:rPr lang="zh-CN" altLang="en-US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里有哪些是当前文件（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400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cpp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,.</a:t>
            </a:r>
            <a:r>
              <a:rPr lang="en-US" altLang="zh-CN" sz="1400" dirty="0" err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cc,.h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完全没有用到的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以及使用前置声明来替代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#includes</a:t>
            </a:r>
            <a:r>
              <a:rPr lang="zh-CN" altLang="en-US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9048" y="3163750"/>
            <a:ext cx="5122770" cy="1569660"/>
          </a:xfrm>
          <a:prstGeom prst="rect">
            <a:avLst/>
          </a:prstGeom>
          <a:solidFill>
            <a:schemeClr val="bg1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更快的编译。 当文件包含冗余的头文件时，编译器会读取，预处理和解析更多的代码。如果存在模板，则会引入更多的代码，加大编译时间。 使用前置声明代替include语句，也能减少依赖，减少可执行程序的大小。</a:t>
            </a:r>
            <a:endParaRPr lang="en-US" altLang="zh-CN" sz="12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更好的重构。 间接引用的存在会导致去除include时，编译失败。不利于解耦。</a:t>
            </a:r>
            <a:endParaRPr lang="en-US" altLang="zh-CN" sz="12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头文件自注释。可通过查看头文件注释，知道该功能依赖其他哪些子功能。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9048" y="2756698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kumimoji="1" lang="en-US" altLang="zh-CN" sz="1200" b="1" dirty="0">
                <a:solidFill>
                  <a:srgbClr val="5757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IWYU</a:t>
            </a:r>
            <a:r>
              <a:rPr kumimoji="1" lang="zh-CN" altLang="en-US" sz="1200" b="1" dirty="0">
                <a:solidFill>
                  <a:srgbClr val="5757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的价值：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9048" y="1124403"/>
            <a:ext cx="1409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kumimoji="1" lang="en-US" altLang="zh-CN" sz="1200" b="1" dirty="0">
                <a:solidFill>
                  <a:srgbClr val="5757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IWYU</a:t>
            </a:r>
            <a:r>
              <a:rPr kumimoji="1" lang="zh-CN" altLang="en-US" sz="1200" b="1" dirty="0">
                <a:solidFill>
                  <a:srgbClr val="5757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是什么：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9048" y="5027656"/>
            <a:ext cx="1563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kumimoji="1" lang="en-US" altLang="zh-CN" sz="1200" b="1" dirty="0">
                <a:solidFill>
                  <a:srgbClr val="5757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IWYU</a:t>
            </a:r>
            <a:r>
              <a:rPr kumimoji="1" lang="zh-CN" altLang="en-US" sz="1200" b="1" dirty="0">
                <a:solidFill>
                  <a:srgbClr val="5757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试用效果：</a:t>
            </a:r>
          </a:p>
        </p:txBody>
      </p:sp>
      <p:pic>
        <p:nvPicPr>
          <p:cNvPr id="9" name="图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442934" y="5411491"/>
            <a:ext cx="5122770" cy="51489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15625" y="6172099"/>
            <a:ext cx="514306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ace_engine</a:t>
            </a:r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仓，根据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IWYU</a:t>
            </a:r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建议整改了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个源文件及相关引用的头文件。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进行了三次编译时长统计对比，平均编译加速时间百分比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5.38%</a:t>
            </a:r>
            <a:endParaRPr lang="zh-CN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30139" y="1124403"/>
            <a:ext cx="3150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kumimoji="1" lang="en-US" altLang="zh-CN" sz="1200" b="1" dirty="0">
                <a:solidFill>
                  <a:srgbClr val="5757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 </a:t>
            </a:r>
            <a:r>
              <a:rPr kumimoji="1" lang="zh-CN" altLang="en-US" sz="1200" b="1" dirty="0">
                <a:solidFill>
                  <a:srgbClr val="5757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看板提供</a:t>
            </a:r>
            <a:r>
              <a:rPr kumimoji="1" lang="en-US" altLang="zh-CN" sz="1200" b="1" dirty="0">
                <a:solidFill>
                  <a:srgbClr val="5757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IWYU</a:t>
            </a:r>
            <a:r>
              <a:rPr kumimoji="1" lang="zh-CN" altLang="en-US" sz="1200" b="1" dirty="0">
                <a:solidFill>
                  <a:srgbClr val="5757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每天例行化检测结果：</a:t>
            </a:r>
          </a:p>
        </p:txBody>
      </p:sp>
      <p:pic>
        <p:nvPicPr>
          <p:cNvPr id="12" name="图片 11"/>
          <p:cNvPicPr/>
          <p:nvPr/>
        </p:nvPicPr>
        <p:blipFill>
          <a:blip r:embed="rId5"/>
          <a:stretch>
            <a:fillRect/>
          </a:stretch>
        </p:blipFill>
        <p:spPr>
          <a:xfrm>
            <a:off x="6104030" y="1521489"/>
            <a:ext cx="5857061" cy="3137899"/>
          </a:xfrm>
          <a:prstGeom prst="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3" name="矩形 12"/>
          <p:cNvSpPr/>
          <p:nvPr/>
        </p:nvSpPr>
        <p:spPr>
          <a:xfrm>
            <a:off x="6104030" y="4871541"/>
            <a:ext cx="55337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http://ci.openharmony.cn/workbench/cicd/compilationProject/compileAnalysis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707388"/>
              </p:ext>
            </p:extLst>
          </p:nvPr>
        </p:nvGraphicFramePr>
        <p:xfrm>
          <a:off x="9284259" y="5469117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文档" showAsIcon="1" r:id="rId6" imgW="914400" imgH="828720" progId="Word.Document.12">
                  <p:embed/>
                </p:oleObj>
              </mc:Choice>
              <mc:Fallback>
                <p:oleObj name="文档" showAsIcon="1" r:id="rId6" imgW="914400" imgH="8287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84259" y="5469117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6536686" y="5563874"/>
            <a:ext cx="2137125" cy="346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IWYU</a:t>
            </a:r>
            <a:r>
              <a:rPr lang="zh-CN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冗余头文件分析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指导手册</a:t>
            </a:r>
            <a:endParaRPr lang="zh-CN" altLang="zh-CN" sz="11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1721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8072" y="114773"/>
            <a:ext cx="11005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/>
              <a:t>实践</a:t>
            </a:r>
            <a:r>
              <a:rPr lang="en-US" altLang="zh-CN" dirty="0"/>
              <a:t>8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编译加速 </a:t>
            </a:r>
            <a:r>
              <a:rPr lang="en-US" altLang="zh-CN" dirty="0"/>
              <a:t>-- </a:t>
            </a:r>
            <a:r>
              <a:rPr lang="zh-CN" altLang="en-US" dirty="0"/>
              <a:t>多种缓存技术</a:t>
            </a:r>
            <a:r>
              <a:rPr lang="en-US" altLang="zh-CN" dirty="0"/>
              <a:t>: Ccache</a:t>
            </a:r>
            <a:r>
              <a:rPr lang="zh-CN" altLang="en-US" dirty="0"/>
              <a:t>、</a:t>
            </a:r>
            <a:r>
              <a:rPr lang="en-US" altLang="zh-CN" dirty="0"/>
              <a:t>python cache</a:t>
            </a:r>
            <a:r>
              <a:rPr lang="zh-CN" altLang="en-US" dirty="0"/>
              <a:t>、</a:t>
            </a:r>
            <a:r>
              <a:rPr lang="en-US" altLang="zh-CN" dirty="0"/>
              <a:t>Java cache&amp; Ninja</a:t>
            </a:r>
            <a:r>
              <a:rPr lang="zh-CN" altLang="en-US" dirty="0"/>
              <a:t>预编译能力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72284" y="4671545"/>
            <a:ext cx="6168012" cy="1477328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244916" indent="-24491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稳定性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：基于成熟开源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Ccache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能力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44916" indent="-24491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精细化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：覆盖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javac/metalava/d8/r8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等模块，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精细化的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jcache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缓存，命中稳定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44916" indent="-24491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持久化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：相同的源文件一次缓存，通过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hash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索引，多次使用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72283" y="1511166"/>
            <a:ext cx="6169351" cy="3090029"/>
            <a:chOff x="161132" y="982593"/>
            <a:chExt cx="7611120" cy="3605034"/>
          </a:xfrm>
        </p:grpSpPr>
        <p:sp>
          <p:nvSpPr>
            <p:cNvPr id="7" name="矩形 6"/>
            <p:cNvSpPr/>
            <p:nvPr/>
          </p:nvSpPr>
          <p:spPr bwMode="auto">
            <a:xfrm>
              <a:off x="161132" y="982593"/>
              <a:ext cx="7609470" cy="360503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 bwMode="auto">
            <a:xfrm>
              <a:off x="257061" y="2944496"/>
              <a:ext cx="7422306" cy="1455603"/>
            </a:xfrm>
            <a:prstGeom prst="roundRect">
              <a:avLst>
                <a:gd name="adj" fmla="val 12661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799">
                <a:latin typeface="Arial" charset="0"/>
                <a:ea typeface="宋体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017636" y="3397121"/>
              <a:ext cx="199379" cy="876617"/>
              <a:chOff x="4610930" y="2334726"/>
              <a:chExt cx="227866" cy="597758"/>
            </a:xfrm>
          </p:grpSpPr>
          <p:sp>
            <p:nvSpPr>
              <p:cNvPr id="80" name="椭圆 79"/>
              <p:cNvSpPr/>
              <p:nvPr/>
            </p:nvSpPr>
            <p:spPr bwMode="auto">
              <a:xfrm>
                <a:off x="4610930" y="2770765"/>
                <a:ext cx="227866" cy="1617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txBody>
              <a:bodyPr vert="horz" wrap="square" lIns="91404" tIns="45702" rIns="91404" bIns="45702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buClr>
                    <a:srgbClr val="CC9900"/>
                  </a:buClr>
                  <a:buFont typeface="Wingdings" pitchFamily="2" charset="2"/>
                  <a:buChar char="n"/>
                </a:pPr>
                <a:endParaRPr lang="en-US" sz="1799">
                  <a:solidFill>
                    <a:prstClr val="black"/>
                  </a:solidFill>
                  <a:latin typeface="Arial" charset="0"/>
                  <a:ea typeface="宋体" charset="-122"/>
                </a:endParaRPr>
              </a:p>
            </p:txBody>
          </p:sp>
          <p:cxnSp>
            <p:nvCxnSpPr>
              <p:cNvPr id="81" name="直接箭头连接符 80"/>
              <p:cNvCxnSpPr>
                <a:stCxn id="82" idx="2"/>
              </p:cNvCxnSpPr>
              <p:nvPr/>
            </p:nvCxnSpPr>
            <p:spPr bwMode="auto">
              <a:xfrm flipH="1">
                <a:off x="4724498" y="2479307"/>
                <a:ext cx="4850" cy="291459"/>
              </a:xfrm>
              <a:prstGeom prst="straightConnector1">
                <a:avLst/>
              </a:prstGeom>
              <a:solidFill>
                <a:srgbClr val="5EBFDF"/>
              </a:solidFill>
              <a:ln w="3175">
                <a:solidFill>
                  <a:srgbClr val="009999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圆角矩形 81"/>
              <p:cNvSpPr/>
              <p:nvPr/>
            </p:nvSpPr>
            <p:spPr bwMode="auto">
              <a:xfrm>
                <a:off x="4627489" y="2334726"/>
                <a:ext cx="203716" cy="144581"/>
              </a:xfrm>
              <a:prstGeom prst="roundRect">
                <a:avLst/>
              </a:prstGeom>
              <a:solidFill>
                <a:srgbClr val="5EBFDF"/>
              </a:solidFill>
              <a:ln>
                <a:noFill/>
              </a:ln>
              <a:effectLst/>
            </p:spPr>
            <p:txBody>
              <a:bodyPr vert="horz" wrap="square" lIns="91404" tIns="45702" rIns="91404" bIns="45702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buClr>
                    <a:srgbClr val="CC9900"/>
                  </a:buClr>
                  <a:buFont typeface="Wingdings" pitchFamily="2" charset="2"/>
                  <a:buChar char="n"/>
                </a:pPr>
                <a:endParaRPr lang="en-US" sz="1799">
                  <a:solidFill>
                    <a:prstClr val="black"/>
                  </a:solidFill>
                  <a:latin typeface="Arial" charset="0"/>
                  <a:ea typeface="宋体" charset="-122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1116907" y="3375594"/>
              <a:ext cx="1322386" cy="47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</a:t>
              </a:r>
              <a:r>
                <a:rPr lang="en-US" altLang="zh-CN" sz="1029" dirty="0"/>
                <a:t>Manifest</a:t>
              </a:r>
              <a:r>
                <a:rPr lang="zh-CN" altLang="en-US" sz="1029" dirty="0"/>
                <a:t>文件</a:t>
              </a:r>
              <a:endParaRPr 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曲线连接符 10"/>
            <p:cNvCxnSpPr>
              <a:endCxn id="82" idx="1"/>
            </p:cNvCxnSpPr>
            <p:nvPr/>
          </p:nvCxnSpPr>
          <p:spPr bwMode="auto">
            <a:xfrm rot="5400000">
              <a:off x="592039" y="2928712"/>
              <a:ext cx="1014510" cy="134338"/>
            </a:xfrm>
            <a:prstGeom prst="curvedConnector4">
              <a:avLst>
                <a:gd name="adj1" fmla="val 44775"/>
                <a:gd name="adj2" fmla="val 270168"/>
              </a:avLst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文本框 11"/>
            <p:cNvSpPr txBox="1"/>
            <p:nvPr/>
          </p:nvSpPr>
          <p:spPr>
            <a:xfrm>
              <a:off x="262685" y="2095254"/>
              <a:ext cx="775021" cy="38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java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86776" y="4001867"/>
              <a:ext cx="1250868" cy="292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29" dirty="0"/>
                <a:t>R:Result</a:t>
              </a:r>
              <a:r>
                <a:rPr lang="zh-CN" altLang="en-US" sz="1029" dirty="0"/>
                <a:t>文件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1191518" y="1792023"/>
              <a:ext cx="126072" cy="1259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674265" y="2087681"/>
              <a:ext cx="126072" cy="1259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cxnSp>
          <p:nvCxnSpPr>
            <p:cNvPr id="16" name="直接连接符 15"/>
            <p:cNvCxnSpPr>
              <a:stCxn id="14" idx="3"/>
              <a:endCxn id="15" idx="0"/>
            </p:cNvCxnSpPr>
            <p:nvPr/>
          </p:nvCxnSpPr>
          <p:spPr bwMode="auto">
            <a:xfrm flipH="1">
              <a:off x="737302" y="1899530"/>
              <a:ext cx="472679" cy="18815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椭圆 16"/>
            <p:cNvSpPr/>
            <p:nvPr/>
          </p:nvSpPr>
          <p:spPr bwMode="auto">
            <a:xfrm>
              <a:off x="1763292" y="2060890"/>
              <a:ext cx="126072" cy="125951"/>
            </a:xfrm>
            <a:prstGeom prst="ellipse">
              <a:avLst/>
            </a:prstGeom>
            <a:solidFill>
              <a:srgbClr val="0099CC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cxnSp>
          <p:nvCxnSpPr>
            <p:cNvPr id="18" name="直接连接符 17"/>
            <p:cNvCxnSpPr>
              <a:stCxn id="14" idx="5"/>
            </p:cNvCxnSpPr>
            <p:nvPr/>
          </p:nvCxnSpPr>
          <p:spPr bwMode="auto">
            <a:xfrm>
              <a:off x="1299127" y="1899529"/>
              <a:ext cx="544411" cy="210935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文本框 18"/>
            <p:cNvSpPr txBox="1"/>
            <p:nvPr/>
          </p:nvSpPr>
          <p:spPr>
            <a:xfrm>
              <a:off x="2122729" y="2088132"/>
              <a:ext cx="791428" cy="38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java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 bwMode="auto">
            <a:xfrm>
              <a:off x="2980277" y="1783508"/>
              <a:ext cx="126072" cy="1259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2463025" y="2079166"/>
              <a:ext cx="126072" cy="1259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cxnSp>
          <p:nvCxnSpPr>
            <p:cNvPr id="22" name="直接连接符 21"/>
            <p:cNvCxnSpPr>
              <a:stCxn id="20" idx="3"/>
              <a:endCxn id="21" idx="0"/>
            </p:cNvCxnSpPr>
            <p:nvPr/>
          </p:nvCxnSpPr>
          <p:spPr bwMode="auto">
            <a:xfrm flipH="1">
              <a:off x="2526061" y="1891014"/>
              <a:ext cx="472679" cy="18815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椭圆 22"/>
            <p:cNvSpPr/>
            <p:nvPr/>
          </p:nvSpPr>
          <p:spPr bwMode="auto">
            <a:xfrm>
              <a:off x="3552052" y="2052374"/>
              <a:ext cx="126072" cy="125951"/>
            </a:xfrm>
            <a:prstGeom prst="ellipse">
              <a:avLst/>
            </a:prstGeom>
            <a:solidFill>
              <a:srgbClr val="0099CC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cxnSp>
          <p:nvCxnSpPr>
            <p:cNvPr id="24" name="直接连接符 23"/>
            <p:cNvCxnSpPr>
              <a:stCxn id="20" idx="5"/>
            </p:cNvCxnSpPr>
            <p:nvPr/>
          </p:nvCxnSpPr>
          <p:spPr bwMode="auto">
            <a:xfrm>
              <a:off x="3087887" y="1891014"/>
              <a:ext cx="544412" cy="210936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文本框 24"/>
            <p:cNvSpPr txBox="1"/>
            <p:nvPr/>
          </p:nvSpPr>
          <p:spPr>
            <a:xfrm>
              <a:off x="4031225" y="2047316"/>
              <a:ext cx="729978" cy="38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3.java</a:t>
              </a:r>
            </a:p>
          </p:txBody>
        </p:sp>
        <p:sp>
          <p:nvSpPr>
            <p:cNvPr id="26" name="椭圆 25"/>
            <p:cNvSpPr/>
            <p:nvPr/>
          </p:nvSpPr>
          <p:spPr bwMode="auto">
            <a:xfrm>
              <a:off x="4839209" y="1743683"/>
              <a:ext cx="126072" cy="1259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sp>
          <p:nvSpPr>
            <p:cNvPr id="27" name="椭圆 26"/>
            <p:cNvSpPr/>
            <p:nvPr/>
          </p:nvSpPr>
          <p:spPr bwMode="auto">
            <a:xfrm>
              <a:off x="4321958" y="2039341"/>
              <a:ext cx="126072" cy="1259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cxnSp>
          <p:nvCxnSpPr>
            <p:cNvPr id="28" name="直接连接符 27"/>
            <p:cNvCxnSpPr>
              <a:stCxn id="26" idx="3"/>
              <a:endCxn id="27" idx="0"/>
            </p:cNvCxnSpPr>
            <p:nvPr/>
          </p:nvCxnSpPr>
          <p:spPr bwMode="auto">
            <a:xfrm flipH="1">
              <a:off x="4384994" y="1851189"/>
              <a:ext cx="472677" cy="18815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" name="椭圆 28"/>
            <p:cNvSpPr/>
            <p:nvPr/>
          </p:nvSpPr>
          <p:spPr bwMode="auto">
            <a:xfrm>
              <a:off x="5410984" y="2012549"/>
              <a:ext cx="126072" cy="125951"/>
            </a:xfrm>
            <a:prstGeom prst="ellipse">
              <a:avLst/>
            </a:prstGeom>
            <a:solidFill>
              <a:srgbClr val="0099CC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902245" y="1599579"/>
              <a:ext cx="725991" cy="38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jcache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" name="直接连接符 30"/>
            <p:cNvCxnSpPr>
              <a:stCxn id="26" idx="5"/>
            </p:cNvCxnSpPr>
            <p:nvPr/>
          </p:nvCxnSpPr>
          <p:spPr bwMode="auto">
            <a:xfrm>
              <a:off x="4946820" y="1851189"/>
              <a:ext cx="544412" cy="210935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2" name="组合 31"/>
            <p:cNvGrpSpPr/>
            <p:nvPr/>
          </p:nvGrpSpPr>
          <p:grpSpPr>
            <a:xfrm>
              <a:off x="2699242" y="3402487"/>
              <a:ext cx="178248" cy="639457"/>
              <a:chOff x="4627489" y="2334726"/>
              <a:chExt cx="203716" cy="436040"/>
            </a:xfrm>
          </p:grpSpPr>
          <p:cxnSp>
            <p:nvCxnSpPr>
              <p:cNvPr id="78" name="直接箭头连接符 77"/>
              <p:cNvCxnSpPr>
                <a:stCxn id="79" idx="2"/>
              </p:cNvCxnSpPr>
              <p:nvPr/>
            </p:nvCxnSpPr>
            <p:spPr bwMode="auto">
              <a:xfrm flipH="1">
                <a:off x="4724498" y="2479307"/>
                <a:ext cx="4850" cy="291459"/>
              </a:xfrm>
              <a:prstGeom prst="straightConnector1">
                <a:avLst/>
              </a:prstGeom>
              <a:solidFill>
                <a:srgbClr val="5EBFDF"/>
              </a:solidFill>
              <a:ln w="3175">
                <a:solidFill>
                  <a:srgbClr val="009999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圆角矩形 78"/>
              <p:cNvSpPr/>
              <p:nvPr/>
            </p:nvSpPr>
            <p:spPr bwMode="auto">
              <a:xfrm>
                <a:off x="4627489" y="2334726"/>
                <a:ext cx="203716" cy="144581"/>
              </a:xfrm>
              <a:prstGeom prst="roundRect">
                <a:avLst/>
              </a:prstGeom>
              <a:solidFill>
                <a:srgbClr val="5EBFDF"/>
              </a:solidFill>
              <a:ln>
                <a:noFill/>
              </a:ln>
              <a:effectLst/>
            </p:spPr>
            <p:txBody>
              <a:bodyPr vert="horz" wrap="square" lIns="91404" tIns="45702" rIns="91404" bIns="45702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buClr>
                    <a:srgbClr val="CC9900"/>
                  </a:buClr>
                  <a:buFont typeface="Wingdings" pitchFamily="2" charset="2"/>
                  <a:buChar char="n"/>
                </a:pPr>
                <a:endParaRPr lang="en-US" sz="1799">
                  <a:solidFill>
                    <a:prstClr val="black"/>
                  </a:solidFill>
                  <a:latin typeface="Arial" charset="0"/>
                  <a:ea typeface="宋体" charset="-122"/>
                </a:endParaRPr>
              </a:p>
            </p:txBody>
          </p:sp>
        </p:grpSp>
        <p:cxnSp>
          <p:nvCxnSpPr>
            <p:cNvPr id="33" name="曲线连接符 32"/>
            <p:cNvCxnSpPr>
              <a:endCxn id="79" idx="1"/>
            </p:cNvCxnSpPr>
            <p:nvPr/>
          </p:nvCxnSpPr>
          <p:spPr bwMode="auto">
            <a:xfrm rot="5400000">
              <a:off x="2318458" y="2869409"/>
              <a:ext cx="1019877" cy="258308"/>
            </a:xfrm>
            <a:prstGeom prst="curvedConnector4">
              <a:avLst>
                <a:gd name="adj1" fmla="val 44803"/>
                <a:gd name="adj2" fmla="val 188499"/>
              </a:avLst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文本框 33"/>
            <p:cNvSpPr txBox="1"/>
            <p:nvPr/>
          </p:nvSpPr>
          <p:spPr>
            <a:xfrm>
              <a:off x="772977" y="3001975"/>
              <a:ext cx="1139959" cy="28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hash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</a:t>
              </a:r>
              <a:endParaRPr 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194884" y="1014406"/>
              <a:ext cx="3422137" cy="38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43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jcache</a:t>
              </a:r>
              <a:r>
                <a:rPr lang="zh-CN" altLang="en-US" sz="1543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缓存构建的基本机制</a:t>
              </a:r>
              <a:endParaRPr lang="en-US" sz="1543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99907" y="3617638"/>
              <a:ext cx="1378391" cy="32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构建缓存</a:t>
              </a:r>
              <a:endPara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椭圆 36"/>
            <p:cNvSpPr/>
            <p:nvPr/>
          </p:nvSpPr>
          <p:spPr bwMode="auto">
            <a:xfrm>
              <a:off x="956048" y="2646796"/>
              <a:ext cx="252145" cy="25190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</a:pPr>
              <a:r>
                <a:rPr lang="en-US" altLang="zh-CN" sz="12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椭圆 37"/>
            <p:cNvSpPr/>
            <p:nvPr/>
          </p:nvSpPr>
          <p:spPr bwMode="auto">
            <a:xfrm>
              <a:off x="2721938" y="2640928"/>
              <a:ext cx="252145" cy="25190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</a:pPr>
              <a:r>
                <a:rPr lang="en-US" altLang="zh-CN" sz="12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455935" y="2994750"/>
              <a:ext cx="1126860" cy="28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hash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</a:t>
              </a:r>
              <a:endParaRPr 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椭圆 39"/>
            <p:cNvSpPr/>
            <p:nvPr/>
          </p:nvSpPr>
          <p:spPr bwMode="auto">
            <a:xfrm>
              <a:off x="2684447" y="4039429"/>
              <a:ext cx="199379" cy="23716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solidFill>
                  <a:prstClr val="black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734699" y="1394972"/>
              <a:ext cx="1074933" cy="32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hlinkClick r:id="rId2"/>
                </a:rPr>
                <a:t>metalava</a:t>
              </a:r>
              <a:endParaRPr lang="en-US" altLang="zh-CN" sz="1200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91287" y="1325682"/>
              <a:ext cx="107493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b="1" dirty="0">
                  <a:hlinkClick r:id="rId3"/>
                </a:rPr>
                <a:t>javac</a:t>
              </a:r>
              <a:endParaRPr lang="en-US" altLang="zh-CN" sz="1200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681559" y="1403237"/>
              <a:ext cx="1074933" cy="32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hlinkClick r:id="rId4"/>
                </a:rPr>
                <a:t>d8</a:t>
              </a:r>
              <a:endParaRPr lang="en-US" altLang="zh-CN" sz="1200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766893" y="2056687"/>
              <a:ext cx="741605" cy="38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4.java</a:t>
              </a:r>
            </a:p>
          </p:txBody>
        </p:sp>
        <p:sp>
          <p:nvSpPr>
            <p:cNvPr id="45" name="椭圆 44"/>
            <p:cNvSpPr/>
            <p:nvPr/>
          </p:nvSpPr>
          <p:spPr bwMode="auto">
            <a:xfrm>
              <a:off x="6615896" y="1773818"/>
              <a:ext cx="126072" cy="1259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sp>
          <p:nvSpPr>
            <p:cNvPr id="46" name="椭圆 45"/>
            <p:cNvSpPr/>
            <p:nvPr/>
          </p:nvSpPr>
          <p:spPr bwMode="auto">
            <a:xfrm>
              <a:off x="6098645" y="2069476"/>
              <a:ext cx="126072" cy="125951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cxnSp>
          <p:nvCxnSpPr>
            <p:cNvPr id="47" name="直接连接符 46"/>
            <p:cNvCxnSpPr>
              <a:stCxn id="45" idx="3"/>
              <a:endCxn id="46" idx="0"/>
            </p:cNvCxnSpPr>
            <p:nvPr/>
          </p:nvCxnSpPr>
          <p:spPr bwMode="auto">
            <a:xfrm flipH="1">
              <a:off x="6161681" y="1881324"/>
              <a:ext cx="472677" cy="188152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" name="椭圆 47"/>
            <p:cNvSpPr/>
            <p:nvPr/>
          </p:nvSpPr>
          <p:spPr bwMode="auto">
            <a:xfrm>
              <a:off x="7187671" y="2042684"/>
              <a:ext cx="126072" cy="125951"/>
            </a:xfrm>
            <a:prstGeom prst="ellipse">
              <a:avLst/>
            </a:prstGeom>
            <a:solidFill>
              <a:srgbClr val="0099CC"/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 defTabSz="914014"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latin typeface="Arial" charset="0"/>
                <a:ea typeface="宋体" charset="-122"/>
              </a:endParaRPr>
            </a:p>
          </p:txBody>
        </p:sp>
        <p:cxnSp>
          <p:nvCxnSpPr>
            <p:cNvPr id="49" name="直接连接符 48"/>
            <p:cNvCxnSpPr>
              <a:stCxn id="45" idx="5"/>
            </p:cNvCxnSpPr>
            <p:nvPr/>
          </p:nvCxnSpPr>
          <p:spPr bwMode="auto">
            <a:xfrm>
              <a:off x="6723507" y="1881324"/>
              <a:ext cx="544412" cy="210935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" name="文本框 49"/>
            <p:cNvSpPr txBox="1"/>
            <p:nvPr/>
          </p:nvSpPr>
          <p:spPr>
            <a:xfrm>
              <a:off x="6447670" y="1382619"/>
              <a:ext cx="1074933" cy="32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hlinkClick r:id="rId4"/>
                </a:rPr>
                <a:t>r8</a:t>
              </a:r>
              <a:endParaRPr lang="en-US" altLang="zh-CN" sz="1200" b="1" dirty="0"/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4505666" y="3411923"/>
              <a:ext cx="178248" cy="639457"/>
              <a:chOff x="4627489" y="2334726"/>
              <a:chExt cx="203716" cy="436040"/>
            </a:xfrm>
          </p:grpSpPr>
          <p:cxnSp>
            <p:nvCxnSpPr>
              <p:cNvPr id="76" name="直接箭头连接符 75"/>
              <p:cNvCxnSpPr>
                <a:stCxn id="77" idx="2"/>
              </p:cNvCxnSpPr>
              <p:nvPr/>
            </p:nvCxnSpPr>
            <p:spPr bwMode="auto">
              <a:xfrm flipH="1">
                <a:off x="4724498" y="2479307"/>
                <a:ext cx="4850" cy="291459"/>
              </a:xfrm>
              <a:prstGeom prst="straightConnector1">
                <a:avLst/>
              </a:prstGeom>
              <a:solidFill>
                <a:srgbClr val="5EBFDF"/>
              </a:solidFill>
              <a:ln w="3175">
                <a:solidFill>
                  <a:srgbClr val="009999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圆角矩形 76"/>
              <p:cNvSpPr/>
              <p:nvPr/>
            </p:nvSpPr>
            <p:spPr bwMode="auto">
              <a:xfrm>
                <a:off x="4627489" y="2334726"/>
                <a:ext cx="203716" cy="144581"/>
              </a:xfrm>
              <a:prstGeom prst="roundRect">
                <a:avLst/>
              </a:prstGeom>
              <a:solidFill>
                <a:srgbClr val="5EBFDF"/>
              </a:solidFill>
              <a:ln>
                <a:noFill/>
              </a:ln>
              <a:effectLst/>
            </p:spPr>
            <p:txBody>
              <a:bodyPr vert="horz" wrap="square" lIns="91404" tIns="45702" rIns="91404" bIns="45702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buClr>
                    <a:srgbClr val="CC9900"/>
                  </a:buClr>
                  <a:buFont typeface="Wingdings" pitchFamily="2" charset="2"/>
                  <a:buChar char="n"/>
                </a:pPr>
                <a:endParaRPr lang="en-US" sz="1799">
                  <a:solidFill>
                    <a:prstClr val="black"/>
                  </a:solidFill>
                  <a:latin typeface="Arial" charset="0"/>
                  <a:ea typeface="宋体" charset="-122"/>
                </a:endParaRPr>
              </a:p>
            </p:txBody>
          </p:sp>
        </p:grpSp>
        <p:cxnSp>
          <p:nvCxnSpPr>
            <p:cNvPr id="52" name="曲线连接符 51"/>
            <p:cNvCxnSpPr>
              <a:endCxn id="77" idx="3"/>
            </p:cNvCxnSpPr>
            <p:nvPr/>
          </p:nvCxnSpPr>
          <p:spPr bwMode="auto">
            <a:xfrm rot="5400000">
              <a:off x="4237938" y="2877928"/>
              <a:ext cx="1085987" cy="194033"/>
            </a:xfrm>
            <a:prstGeom prst="curvedConnector2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3" name="椭圆 52"/>
            <p:cNvSpPr/>
            <p:nvPr/>
          </p:nvSpPr>
          <p:spPr bwMode="auto">
            <a:xfrm>
              <a:off x="4728837" y="2610069"/>
              <a:ext cx="252145" cy="28412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</a:pPr>
              <a:r>
                <a:rPr lang="en-US" altLang="zh-CN" sz="12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321958" y="3013392"/>
              <a:ext cx="1126860" cy="28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hash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</a:t>
              </a:r>
              <a:endParaRPr 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椭圆 54"/>
            <p:cNvSpPr/>
            <p:nvPr/>
          </p:nvSpPr>
          <p:spPr bwMode="auto">
            <a:xfrm>
              <a:off x="4490871" y="4048865"/>
              <a:ext cx="199379" cy="23716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solidFill>
                  <a:prstClr val="black"/>
                </a:solidFill>
                <a:latin typeface="Arial" charset="0"/>
                <a:ea typeface="宋体" charset="-122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6344944" y="3372079"/>
              <a:ext cx="178248" cy="639457"/>
              <a:chOff x="4627489" y="2334726"/>
              <a:chExt cx="203716" cy="436040"/>
            </a:xfrm>
          </p:grpSpPr>
          <p:cxnSp>
            <p:nvCxnSpPr>
              <p:cNvPr id="74" name="直接箭头连接符 73"/>
              <p:cNvCxnSpPr>
                <a:stCxn id="75" idx="2"/>
              </p:cNvCxnSpPr>
              <p:nvPr/>
            </p:nvCxnSpPr>
            <p:spPr bwMode="auto">
              <a:xfrm flipH="1">
                <a:off x="4724498" y="2479307"/>
                <a:ext cx="4850" cy="291459"/>
              </a:xfrm>
              <a:prstGeom prst="straightConnector1">
                <a:avLst/>
              </a:prstGeom>
              <a:solidFill>
                <a:srgbClr val="5EBFDF"/>
              </a:solidFill>
              <a:ln w="3175">
                <a:solidFill>
                  <a:srgbClr val="009999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圆角矩形 74"/>
              <p:cNvSpPr/>
              <p:nvPr/>
            </p:nvSpPr>
            <p:spPr bwMode="auto">
              <a:xfrm>
                <a:off x="4627489" y="2334726"/>
                <a:ext cx="203716" cy="144581"/>
              </a:xfrm>
              <a:prstGeom prst="roundRect">
                <a:avLst/>
              </a:prstGeom>
              <a:solidFill>
                <a:srgbClr val="5EBFDF"/>
              </a:solidFill>
              <a:ln>
                <a:noFill/>
              </a:ln>
              <a:effectLst/>
            </p:spPr>
            <p:txBody>
              <a:bodyPr vert="horz" wrap="square" lIns="91404" tIns="45702" rIns="91404" bIns="45702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buClr>
                    <a:srgbClr val="CC9900"/>
                  </a:buClr>
                  <a:buFont typeface="Wingdings" pitchFamily="2" charset="2"/>
                  <a:buChar char="n"/>
                </a:pPr>
                <a:endParaRPr lang="en-US" sz="1799">
                  <a:solidFill>
                    <a:prstClr val="black"/>
                  </a:solidFill>
                  <a:latin typeface="Arial" charset="0"/>
                  <a:ea typeface="宋体" charset="-122"/>
                </a:endParaRPr>
              </a:p>
            </p:txBody>
          </p:sp>
        </p:grpSp>
        <p:cxnSp>
          <p:nvCxnSpPr>
            <p:cNvPr id="57" name="曲线连接符 56"/>
            <p:cNvCxnSpPr>
              <a:endCxn id="75" idx="3"/>
            </p:cNvCxnSpPr>
            <p:nvPr/>
          </p:nvCxnSpPr>
          <p:spPr bwMode="auto">
            <a:xfrm rot="5400000">
              <a:off x="6274867" y="2697014"/>
              <a:ext cx="1029406" cy="532755"/>
            </a:xfrm>
            <a:prstGeom prst="curvedConnector2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8" name="椭圆 57"/>
            <p:cNvSpPr/>
            <p:nvPr/>
          </p:nvSpPr>
          <p:spPr bwMode="auto">
            <a:xfrm>
              <a:off x="6935526" y="2610069"/>
              <a:ext cx="252145" cy="25190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</a:pPr>
              <a:r>
                <a:rPr lang="en-US" altLang="zh-CN" sz="12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463210" y="2985643"/>
              <a:ext cx="1126860" cy="287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hash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xxxx</a:t>
              </a:r>
              <a:endParaRPr 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椭圆 59"/>
            <p:cNvSpPr/>
            <p:nvPr/>
          </p:nvSpPr>
          <p:spPr bwMode="auto">
            <a:xfrm>
              <a:off x="6330149" y="4009021"/>
              <a:ext cx="199379" cy="23716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vert="horz" wrap="square" lIns="91404" tIns="45702" rIns="91404" bIns="45702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</a:pPr>
              <a:endParaRPr lang="en-US" sz="1799">
                <a:solidFill>
                  <a:prstClr val="black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6632717" y="1571910"/>
              <a:ext cx="725991" cy="38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jcache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3013403" y="1599579"/>
              <a:ext cx="725991" cy="38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jcache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228547" y="1600105"/>
              <a:ext cx="725991" cy="384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jcache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102414" y="2119293"/>
              <a:ext cx="1209468" cy="662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{parameters1}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2850037" y="2071814"/>
              <a:ext cx="1209468" cy="662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{parameters2}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759914" y="2031951"/>
              <a:ext cx="1209468" cy="662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{parameters3}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6561134" y="2052012"/>
              <a:ext cx="1209468" cy="662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29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{parameters4}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2804185" y="3385545"/>
              <a:ext cx="1322386" cy="47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</a:t>
              </a:r>
              <a:r>
                <a:rPr lang="en-US" altLang="zh-CN" sz="1029" dirty="0"/>
                <a:t>Manifest</a:t>
              </a:r>
              <a:r>
                <a:rPr lang="zh-CN" altLang="en-US" sz="1029" dirty="0"/>
                <a:t>文件</a:t>
              </a:r>
              <a:endParaRPr 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874053" y="4011817"/>
              <a:ext cx="1250868" cy="292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29" dirty="0"/>
                <a:t>R:Result</a:t>
              </a:r>
              <a:r>
                <a:rPr lang="zh-CN" altLang="en-US" sz="1029" dirty="0"/>
                <a:t>文件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4600677" y="3384117"/>
              <a:ext cx="1404588" cy="292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</a:t>
              </a:r>
              <a:r>
                <a:rPr lang="en-US" altLang="zh-CN" sz="1029" dirty="0"/>
                <a:t>Manifest</a:t>
              </a:r>
              <a:r>
                <a:rPr lang="zh-CN" altLang="en-US" sz="1029" dirty="0"/>
                <a:t>文件</a:t>
              </a:r>
              <a:endParaRPr 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4670545" y="4010389"/>
              <a:ext cx="1250868" cy="292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29" dirty="0"/>
                <a:t>R:Result</a:t>
              </a:r>
              <a:r>
                <a:rPr lang="zh-CN" altLang="en-US" sz="1029" dirty="0"/>
                <a:t>文件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6449866" y="3375594"/>
              <a:ext cx="1322386" cy="47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</a:t>
              </a:r>
              <a:r>
                <a:rPr lang="en-US" altLang="zh-CN" sz="1029" dirty="0"/>
                <a:t>Manifest</a:t>
              </a:r>
              <a:r>
                <a:rPr lang="zh-CN" altLang="en-US" sz="1029" dirty="0"/>
                <a:t>文件</a:t>
              </a:r>
              <a:endParaRPr 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488021" y="3979558"/>
              <a:ext cx="1250868" cy="292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29" dirty="0"/>
                <a:t>R:Result</a:t>
              </a:r>
              <a:r>
                <a:rPr lang="zh-CN" altLang="en-US" sz="1029" dirty="0"/>
                <a:t>文件</a:t>
              </a:r>
              <a:endParaRPr lang="en-US" sz="102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矩形 82"/>
          <p:cNvSpPr/>
          <p:nvPr/>
        </p:nvSpPr>
        <p:spPr>
          <a:xfrm>
            <a:off x="6724593" y="4671545"/>
            <a:ext cx="5217707" cy="1252907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371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zh-CN" altLang="en-US" sz="1371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endParaRPr lang="en-US" altLang="zh-CN" sz="1371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44916" indent="-24491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精准化依赖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：不涉及构建依赖关系的修改，跳过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soong/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kati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处理、复用已生成的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ninja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470" y="1516903"/>
            <a:ext cx="5233831" cy="1592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594" y="3211300"/>
            <a:ext cx="5217707" cy="135788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86" name="矩形 85"/>
          <p:cNvSpPr/>
          <p:nvPr/>
        </p:nvSpPr>
        <p:spPr>
          <a:xfrm>
            <a:off x="1470673" y="6292844"/>
            <a:ext cx="9856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cache&amp;+Ninja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预编译能力：缩短系统组件编译耗时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分钟，节省门禁构建资源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</a:p>
        </p:txBody>
      </p:sp>
      <p:sp>
        <p:nvSpPr>
          <p:cNvPr id="87" name="矩形 86"/>
          <p:cNvSpPr/>
          <p:nvPr/>
        </p:nvSpPr>
        <p:spPr>
          <a:xfrm>
            <a:off x="81260" y="1144261"/>
            <a:ext cx="6259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自研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 cache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缓存能力，缩短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编译时间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</a:p>
        </p:txBody>
      </p:sp>
      <p:sp>
        <p:nvSpPr>
          <p:cNvPr id="88" name="矩形 87"/>
          <p:cNvSpPr/>
          <p:nvPr/>
        </p:nvSpPr>
        <p:spPr>
          <a:xfrm>
            <a:off x="6708470" y="1143636"/>
            <a:ext cx="5252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Ninja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预编译能力，节省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soong/Kati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解析依赖时间，提升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172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 txBox="1">
            <a:spLocks/>
          </p:cNvSpPr>
          <p:nvPr/>
        </p:nvSpPr>
        <p:spPr>
          <a:xfrm>
            <a:off x="222362" y="237274"/>
            <a:ext cx="11736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实践</a:t>
            </a:r>
            <a:r>
              <a:rPr lang="en-US" altLang="zh-CN" dirty="0">
                <a:sym typeface="微软雅黑" panose="020B0503020204020204" pitchFamily="34" charset="-122"/>
              </a:rPr>
              <a:t>9</a:t>
            </a:r>
            <a:r>
              <a:rPr lang="zh-CN" altLang="en-US" dirty="0">
                <a:sym typeface="微软雅黑" panose="020B0503020204020204" pitchFamily="34" charset="-122"/>
              </a:rPr>
              <a:t>：</a:t>
            </a:r>
            <a:r>
              <a:rPr lang="en-US" altLang="zh-CN" dirty="0">
                <a:sym typeface="微软雅黑" panose="020B0503020204020204" pitchFamily="34" charset="-122"/>
              </a:rPr>
              <a:t>OH</a:t>
            </a:r>
            <a:r>
              <a:rPr lang="zh-CN" altLang="en-US" dirty="0">
                <a:sym typeface="微软雅黑" panose="020B0503020204020204" pitchFamily="34" charset="-122"/>
              </a:rPr>
              <a:t>建设了支持大规模、分布式、多语言的真机测试系统</a:t>
            </a:r>
          </a:p>
        </p:txBody>
      </p:sp>
      <p:pic>
        <p:nvPicPr>
          <p:cNvPr id="3" name="Picture 2" descr="C:\Users\l30034222\AppData\Roaming\eSpace_Desktop\UserData\l30034222\imagefiles\originalImgfiles\4711BFAF-3C5B-4D11-B28D-D49C448C409F.png">
            <a:extLst>
              <a:ext uri="{FF2B5EF4-FFF2-40B4-BE49-F238E27FC236}">
                <a16:creationId xmlns:a16="http://schemas.microsoft.com/office/drawing/2014/main" id="{1F9F745D-7240-47B8-BFCF-79CA64203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6688"/>
            <a:ext cx="12192000" cy="565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87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 txBox="1">
            <a:spLocks/>
          </p:cNvSpPr>
          <p:nvPr/>
        </p:nvSpPr>
        <p:spPr>
          <a:xfrm>
            <a:off x="222362" y="237274"/>
            <a:ext cx="11736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实践</a:t>
            </a:r>
            <a:r>
              <a:rPr lang="en-US" altLang="zh-CN" dirty="0">
                <a:sym typeface="微软雅黑" panose="020B0503020204020204" pitchFamily="34" charset="-122"/>
              </a:rPr>
              <a:t>10</a:t>
            </a:r>
            <a:r>
              <a:rPr lang="zh-CN" altLang="en-US" dirty="0">
                <a:sym typeface="微软雅黑" panose="020B0503020204020204" pitchFamily="34" charset="-122"/>
              </a:rPr>
              <a:t>：代码质量检查能力内能外溢、内外一致、不重复备案</a:t>
            </a:r>
          </a:p>
        </p:txBody>
      </p:sp>
      <p:graphicFrame>
        <p:nvGraphicFramePr>
          <p:cNvPr id="3" name="Table 2"/>
          <p:cNvGraphicFramePr/>
          <p:nvPr>
            <p:extLst>
              <p:ext uri="{D42A27DB-BD31-4B8C-83A1-F6EECF244321}">
                <p14:modId xmlns:p14="http://schemas.microsoft.com/office/powerpoint/2010/main" val="2190080004"/>
              </p:ext>
            </p:extLst>
          </p:nvPr>
        </p:nvGraphicFramePr>
        <p:xfrm>
          <a:off x="222422" y="2351151"/>
          <a:ext cx="4971682" cy="3874565"/>
        </p:xfrm>
        <a:graphic>
          <a:graphicData uri="http://schemas.openxmlformats.org/drawingml/2006/table">
            <a:tbl>
              <a:tblPr/>
              <a:tblGrid>
                <a:gridCol w="487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3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18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3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95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82413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大类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小类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cs typeface="Arial" panose="020B0604020202020204" pitchFamily="34" charset="0"/>
                        </a:rPr>
                        <a:t>　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cs typeface="Arial" panose="020B0604020202020204" pitchFamily="34" charset="0"/>
                        </a:rPr>
                        <a:t>　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备注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黄区数量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蓝区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蓝区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是</a:t>
                      </a:r>
                      <a:endParaRPr lang="en-US" altLang="en-US" sz="900" b="1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否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覆盖百分比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是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否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覆盖百分比</a:t>
                      </a:r>
                      <a:endParaRPr lang="en-US" altLang="en-US" sz="900" b="1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191"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公司公共能力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编程规范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156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138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18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88.46%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150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7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96.15%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内存检查、空指针等规则体验还需优化，暂不外溢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2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开源工具(ClangTidy)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已外溢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  <a:p>
                      <a:pPr indent="0">
                        <a:buNone/>
                      </a:pP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33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安全TOP问题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19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19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19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已外溢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  <a:p>
                      <a:pPr indent="0">
                        <a:buNone/>
                      </a:pP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33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 err="1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Cmetrics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13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13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13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已外溢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46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other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40.00%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已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外溢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46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公司整体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203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158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45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77.83%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197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7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97.04%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cs typeface="Arial" panose="020B0604020202020204" pitchFamily="34" charset="0"/>
                        </a:rPr>
                        <a:t>　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3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产业自建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终端自定义规则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45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45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45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已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外溢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0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安全编译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8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8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2023.12.31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完成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41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Echecker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5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0.00%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846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cs typeface="Arial" panose="020B0604020202020204" pitchFamily="34" charset="0"/>
                        </a:rPr>
                        <a:t>　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itchFamily="2" charset="-122"/>
                        </a:rPr>
                        <a:t>整体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261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158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103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60.54%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242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20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92.72%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900" b="0" dirty="0">
                          <a:solidFill>
                            <a:srgbClr val="000000"/>
                          </a:solidFill>
                          <a:cs typeface="Arial" panose="020B0604020202020204" pitchFamily="34" charset="0"/>
                        </a:rPr>
                        <a:t>　</a:t>
                      </a:r>
                      <a:endParaRPr lang="en-US" altLang="en-US" sz="9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8201737" y="3930412"/>
            <a:ext cx="3669487" cy="9382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71606" y="1197886"/>
            <a:ext cx="6475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减轻码云的流量压力，通过镜像站分流的方式，提升门禁稳定性，提升开发者社区开发效率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229" y="2283615"/>
            <a:ext cx="1243914" cy="4144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>
            <a:off x="8738084" y="2089372"/>
            <a:ext cx="2487826" cy="7955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OH CI/CD</a:t>
            </a:r>
            <a:r>
              <a:rPr lang="zh-CN" altLang="en-US" sz="14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基础设施集群</a:t>
            </a:r>
          </a:p>
        </p:txBody>
      </p:sp>
      <p:cxnSp>
        <p:nvCxnSpPr>
          <p:cNvPr id="8" name="直接箭头连接符 7"/>
          <p:cNvCxnSpPr>
            <a:stCxn id="6" idx="3"/>
            <a:endCxn id="9" idx="2"/>
          </p:cNvCxnSpPr>
          <p:nvPr/>
        </p:nvCxnSpPr>
        <p:spPr>
          <a:xfrm flipV="1">
            <a:off x="6835143" y="2490837"/>
            <a:ext cx="409099" cy="3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云形 8"/>
          <p:cNvSpPr/>
          <p:nvPr/>
        </p:nvSpPr>
        <p:spPr>
          <a:xfrm>
            <a:off x="7240856" y="2230704"/>
            <a:ext cx="1091514" cy="520266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互联网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835142" y="205423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专线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281114" y="20542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专线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91229" y="1685123"/>
            <a:ext cx="46185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当前码云与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CI/CD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之间需要跨互联网访问，带宽需求大，费用高。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685962" y="3482844"/>
            <a:ext cx="5793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建议：采用镜像分流方案</a:t>
            </a:r>
            <a:r>
              <a:rPr lang="en-US" altLang="zh-CN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把码云带宽和服务器需求降低</a:t>
            </a:r>
            <a:r>
              <a:rPr lang="en-US" altLang="zh-CN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66964" y="452507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主站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229" y="4838404"/>
            <a:ext cx="1243914" cy="4144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6" name="矩形 15"/>
          <p:cNvSpPr/>
          <p:nvPr/>
        </p:nvSpPr>
        <p:spPr>
          <a:xfrm>
            <a:off x="5674841" y="6051558"/>
            <a:ext cx="6096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i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建议开发者提交走码云主站，门禁</a:t>
            </a:r>
            <a:r>
              <a:rPr lang="en-US" altLang="zh-CN" sz="1100" i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&amp;</a:t>
            </a:r>
            <a:r>
              <a:rPr lang="zh-CN" altLang="en-US" sz="1100" i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日构建及代码及版本下载分流走镜像站。</a:t>
            </a:r>
          </a:p>
        </p:txBody>
      </p:sp>
      <p:sp>
        <p:nvSpPr>
          <p:cNvPr id="17" name="矩形 16"/>
          <p:cNvSpPr/>
          <p:nvPr/>
        </p:nvSpPr>
        <p:spPr>
          <a:xfrm>
            <a:off x="5685383" y="2966053"/>
            <a:ext cx="550035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我们当前的开发者、门禁</a:t>
            </a:r>
            <a:r>
              <a:rPr lang="en-US" altLang="zh-CN" sz="11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1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日构建流水线的使用都直接访问码云，导致码云的带宽和用于读写分离的服务器采购量较大；</a:t>
            </a:r>
            <a:endParaRPr lang="en-US" altLang="zh-CN" sz="1100" i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>
            <a:stCxn id="15" idx="3"/>
            <a:endCxn id="19" idx="2"/>
          </p:cNvCxnSpPr>
          <p:nvPr/>
        </p:nvCxnSpPr>
        <p:spPr>
          <a:xfrm flipV="1">
            <a:off x="6835143" y="4512157"/>
            <a:ext cx="1516045" cy="533472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流程图: 磁盘 18"/>
          <p:cNvSpPr/>
          <p:nvPr/>
        </p:nvSpPr>
        <p:spPr>
          <a:xfrm>
            <a:off x="8351188" y="4297973"/>
            <a:ext cx="856735" cy="42836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Codehub</a:t>
            </a:r>
            <a:endParaRPr lang="zh-CN" altLang="en-US" sz="1100" b="1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460067" y="4274839"/>
            <a:ext cx="2271198" cy="4762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OH CI/CD</a:t>
            </a:r>
            <a:r>
              <a:rPr lang="zh-CN" altLang="en-US" sz="14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基础设施集群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719725" y="2610692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1.5G~3G</a:t>
            </a:r>
            <a:endParaRPr lang="zh-CN" altLang="en-US" sz="1200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086303" y="2634158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1.5G~3G</a:t>
            </a:r>
            <a:endParaRPr lang="zh-CN" altLang="en-US" sz="1200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65302" y="437611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尝试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200M</a:t>
            </a:r>
            <a:endParaRPr lang="zh-CN" altLang="en-US" sz="1200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24" name="直接箭头连接符 23"/>
          <p:cNvCxnSpPr>
            <a:stCxn id="19" idx="4"/>
            <a:endCxn id="20" idx="1"/>
          </p:cNvCxnSpPr>
          <p:nvPr/>
        </p:nvCxnSpPr>
        <p:spPr>
          <a:xfrm>
            <a:off x="9207923" y="4512157"/>
            <a:ext cx="252144" cy="818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流程图: 磁盘 24"/>
          <p:cNvSpPr/>
          <p:nvPr/>
        </p:nvSpPr>
        <p:spPr>
          <a:xfrm>
            <a:off x="8351188" y="4970981"/>
            <a:ext cx="856735" cy="42836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阿里云</a:t>
            </a:r>
          </a:p>
        </p:txBody>
      </p:sp>
      <p:sp>
        <p:nvSpPr>
          <p:cNvPr id="26" name="流程图: 磁盘 25"/>
          <p:cNvSpPr/>
          <p:nvPr/>
        </p:nvSpPr>
        <p:spPr>
          <a:xfrm>
            <a:off x="8351188" y="5424702"/>
            <a:ext cx="856735" cy="42836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腾讯云</a:t>
            </a:r>
          </a:p>
        </p:txBody>
      </p:sp>
      <p:cxnSp>
        <p:nvCxnSpPr>
          <p:cNvPr id="27" name="直接箭头连接符 26"/>
          <p:cNvCxnSpPr>
            <a:stCxn id="7" idx="1"/>
            <a:endCxn id="9" idx="0"/>
          </p:cNvCxnSpPr>
          <p:nvPr/>
        </p:nvCxnSpPr>
        <p:spPr>
          <a:xfrm flipH="1">
            <a:off x="8331460" y="2487168"/>
            <a:ext cx="406624" cy="3669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直接箭头连接符 27"/>
          <p:cNvCxnSpPr>
            <a:stCxn id="15" idx="3"/>
            <a:endCxn id="25" idx="2"/>
          </p:cNvCxnSpPr>
          <p:nvPr/>
        </p:nvCxnSpPr>
        <p:spPr>
          <a:xfrm>
            <a:off x="6835143" y="5045629"/>
            <a:ext cx="1516045" cy="139536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直接箭头连接符 28"/>
          <p:cNvCxnSpPr>
            <a:stCxn id="15" idx="3"/>
            <a:endCxn id="26" idx="2"/>
          </p:cNvCxnSpPr>
          <p:nvPr/>
        </p:nvCxnSpPr>
        <p:spPr>
          <a:xfrm>
            <a:off x="6835143" y="5045629"/>
            <a:ext cx="1516045" cy="593257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云形 29"/>
          <p:cNvSpPr/>
          <p:nvPr/>
        </p:nvSpPr>
        <p:spPr>
          <a:xfrm>
            <a:off x="7168726" y="4529636"/>
            <a:ext cx="917578" cy="1018973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互联网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712190" y="3929481"/>
            <a:ext cx="2492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同一</a:t>
            </a:r>
            <a:r>
              <a:rPr lang="en-US" altLang="zh-CN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AZ</a:t>
            </a:r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内部部署，不需要外网带宽</a:t>
            </a:r>
          </a:p>
        </p:txBody>
      </p:sp>
      <p:cxnSp>
        <p:nvCxnSpPr>
          <p:cNvPr id="32" name="直接箭头连接符 31"/>
          <p:cNvCxnSpPr>
            <a:stCxn id="25" idx="4"/>
            <a:endCxn id="20" idx="1"/>
          </p:cNvCxnSpPr>
          <p:nvPr/>
        </p:nvCxnSpPr>
        <p:spPr>
          <a:xfrm flipV="1">
            <a:off x="9207923" y="4512975"/>
            <a:ext cx="252144" cy="672190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矩形 32"/>
          <p:cNvSpPr/>
          <p:nvPr/>
        </p:nvSpPr>
        <p:spPr>
          <a:xfrm>
            <a:off x="220429" y="1197886"/>
            <a:ext cx="5044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蓝黄差异共计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条，蓝区已完成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条规则编写、验证、上线；剩余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条规则，有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条属于内存检查，集团有新的替代工具；其余的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条由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实验室完成外溢，预计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月底完成上线。</a:t>
            </a:r>
          </a:p>
        </p:txBody>
      </p:sp>
    </p:spTree>
    <p:extLst>
      <p:ext uri="{BB962C8B-B14F-4D97-AF65-F5344CB8AC3E}">
        <p14:creationId xmlns:p14="http://schemas.microsoft.com/office/powerpoint/2010/main" val="236059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 txBox="1">
            <a:spLocks/>
          </p:cNvSpPr>
          <p:nvPr/>
        </p:nvSpPr>
        <p:spPr>
          <a:xfrm>
            <a:off x="222362" y="237274"/>
            <a:ext cx="11736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armonyOS Sans SC Black" panose="00000A00000000000000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实践</a:t>
            </a:r>
            <a:r>
              <a:rPr lang="en-US" altLang="zh-CN" dirty="0">
                <a:sym typeface="微软雅黑" panose="020B0503020204020204" pitchFamily="34" charset="-122"/>
              </a:rPr>
              <a:t>11</a:t>
            </a:r>
            <a:r>
              <a:rPr lang="zh-CN" altLang="en-US" dirty="0">
                <a:sym typeface="微软雅黑" panose="020B0503020204020204" pitchFamily="34" charset="-122"/>
              </a:rPr>
              <a:t>：</a:t>
            </a:r>
            <a:r>
              <a:rPr lang="en-US" altLang="zh-CN" dirty="0">
                <a:sym typeface="微软雅黑" panose="020B0503020204020204" pitchFamily="34" charset="-122"/>
              </a:rPr>
              <a:t>CICD</a:t>
            </a:r>
            <a:r>
              <a:rPr lang="zh-CN" altLang="en-US" dirty="0">
                <a:sym typeface="微软雅黑" panose="020B0503020204020204" pitchFamily="34" charset="-122"/>
              </a:rPr>
              <a:t>效能牵引，持续提升效率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5277" y="3862873"/>
            <a:ext cx="1107996" cy="2769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研发效能度量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57270" y="2209238"/>
            <a:ext cx="1256522" cy="2769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流水线健康情况</a:t>
            </a:r>
          </a:p>
        </p:txBody>
      </p:sp>
      <p:cxnSp>
        <p:nvCxnSpPr>
          <p:cNvPr id="5" name="肘形连接符 4"/>
          <p:cNvCxnSpPr>
            <a:stCxn id="3" idx="3"/>
            <a:endCxn id="4" idx="1"/>
          </p:cNvCxnSpPr>
          <p:nvPr/>
        </p:nvCxnSpPr>
        <p:spPr>
          <a:xfrm flipV="1">
            <a:off x="1313273" y="2347738"/>
            <a:ext cx="443997" cy="1653635"/>
          </a:xfrm>
          <a:prstGeom prst="bentConnector3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框 5"/>
          <p:cNvSpPr txBox="1"/>
          <p:nvPr/>
        </p:nvSpPr>
        <p:spPr>
          <a:xfrm>
            <a:off x="1757270" y="3857838"/>
            <a:ext cx="1256522" cy="2769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代码门禁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57270" y="5046408"/>
            <a:ext cx="1256522" cy="2769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每日构建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57270" y="5984493"/>
            <a:ext cx="1256522" cy="2769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代码质量</a:t>
            </a:r>
          </a:p>
        </p:txBody>
      </p:sp>
      <p:cxnSp>
        <p:nvCxnSpPr>
          <p:cNvPr id="9" name="肘形连接符 8"/>
          <p:cNvCxnSpPr>
            <a:stCxn id="3" idx="3"/>
            <a:endCxn id="8" idx="1"/>
          </p:cNvCxnSpPr>
          <p:nvPr/>
        </p:nvCxnSpPr>
        <p:spPr>
          <a:xfrm>
            <a:off x="1313273" y="4001373"/>
            <a:ext cx="443997" cy="2121620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肘形连接符 9"/>
          <p:cNvCxnSpPr>
            <a:stCxn id="3" idx="3"/>
            <a:endCxn id="6" idx="1"/>
          </p:cNvCxnSpPr>
          <p:nvPr/>
        </p:nvCxnSpPr>
        <p:spPr>
          <a:xfrm flipV="1">
            <a:off x="1313273" y="3996338"/>
            <a:ext cx="443997" cy="5035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肘形连接符 10"/>
          <p:cNvCxnSpPr>
            <a:stCxn id="3" idx="3"/>
            <a:endCxn id="7" idx="1"/>
          </p:cNvCxnSpPr>
          <p:nvPr/>
        </p:nvCxnSpPr>
        <p:spPr>
          <a:xfrm>
            <a:off x="1313273" y="4001373"/>
            <a:ext cx="443997" cy="1183535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框 11"/>
          <p:cNvSpPr txBox="1"/>
          <p:nvPr/>
        </p:nvSpPr>
        <p:spPr>
          <a:xfrm>
            <a:off x="3813115" y="1493704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触发构建的</a:t>
            </a:r>
            <a:r>
              <a:rPr lang="en-US" altLang="zh-CN" sz="1050" dirty="0"/>
              <a:t>PR</a:t>
            </a:r>
            <a:r>
              <a:rPr lang="zh-CN" altLang="en-US" sz="1050" dirty="0"/>
              <a:t>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813115" y="1792277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门禁执行次数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813115" y="2081519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门禁构建时长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813115" y="2378974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日构建成功率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813115" y="2680140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en-US" altLang="zh-CN" sz="1050" dirty="0"/>
              <a:t>TDD</a:t>
            </a:r>
            <a:r>
              <a:rPr lang="zh-CN" altLang="en-US" sz="1050" dirty="0"/>
              <a:t>测试成功率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13115" y="2962648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en-US" altLang="zh-CN" sz="1050" dirty="0"/>
              <a:t>XTS</a:t>
            </a:r>
            <a:r>
              <a:rPr lang="zh-CN" altLang="en-US" sz="1050" dirty="0"/>
              <a:t>测试成功率</a:t>
            </a:r>
          </a:p>
        </p:txBody>
      </p:sp>
      <p:cxnSp>
        <p:nvCxnSpPr>
          <p:cNvPr id="18" name="肘形连接符 17"/>
          <p:cNvCxnSpPr>
            <a:stCxn id="4" idx="3"/>
            <a:endCxn id="12" idx="1"/>
          </p:cNvCxnSpPr>
          <p:nvPr/>
        </p:nvCxnSpPr>
        <p:spPr>
          <a:xfrm flipV="1">
            <a:off x="3013792" y="1624509"/>
            <a:ext cx="799323" cy="723229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肘形连接符 18"/>
          <p:cNvCxnSpPr>
            <a:stCxn id="4" idx="3"/>
            <a:endCxn id="13" idx="1"/>
          </p:cNvCxnSpPr>
          <p:nvPr/>
        </p:nvCxnSpPr>
        <p:spPr>
          <a:xfrm flipV="1">
            <a:off x="3013792" y="1923082"/>
            <a:ext cx="799323" cy="424656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肘形连接符 19"/>
          <p:cNvCxnSpPr>
            <a:stCxn id="4" idx="3"/>
            <a:endCxn id="14" idx="1"/>
          </p:cNvCxnSpPr>
          <p:nvPr/>
        </p:nvCxnSpPr>
        <p:spPr>
          <a:xfrm flipV="1">
            <a:off x="3013792" y="2212324"/>
            <a:ext cx="799323" cy="135414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肘形连接符 20"/>
          <p:cNvCxnSpPr>
            <a:stCxn id="4" idx="3"/>
            <a:endCxn id="15" idx="1"/>
          </p:cNvCxnSpPr>
          <p:nvPr/>
        </p:nvCxnSpPr>
        <p:spPr>
          <a:xfrm>
            <a:off x="3013792" y="2347738"/>
            <a:ext cx="799323" cy="162041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肘形连接符 21"/>
          <p:cNvCxnSpPr>
            <a:stCxn id="4" idx="3"/>
            <a:endCxn id="16" idx="1"/>
          </p:cNvCxnSpPr>
          <p:nvPr/>
        </p:nvCxnSpPr>
        <p:spPr>
          <a:xfrm>
            <a:off x="3013792" y="2347738"/>
            <a:ext cx="799323" cy="463207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肘形连接符 22"/>
          <p:cNvCxnSpPr>
            <a:stCxn id="4" idx="3"/>
            <a:endCxn id="17" idx="1"/>
          </p:cNvCxnSpPr>
          <p:nvPr/>
        </p:nvCxnSpPr>
        <p:spPr>
          <a:xfrm>
            <a:off x="3013792" y="2347738"/>
            <a:ext cx="799323" cy="745715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矩形 23"/>
          <p:cNvSpPr/>
          <p:nvPr/>
        </p:nvSpPr>
        <p:spPr>
          <a:xfrm>
            <a:off x="101723" y="1100771"/>
            <a:ext cx="1197805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代码门禁保障开发者在提交</a:t>
            </a:r>
            <a:r>
              <a:rPr lang="en-US" altLang="zh-CN" sz="1200" dirty="0"/>
              <a:t>PR</a:t>
            </a:r>
            <a:r>
              <a:rPr lang="zh-CN" altLang="en-US" sz="1200" dirty="0"/>
              <a:t>到主干的时长</a:t>
            </a:r>
            <a:r>
              <a:rPr lang="en-US" altLang="zh-CN" sz="1200" dirty="0"/>
              <a:t>&lt;30m</a:t>
            </a:r>
            <a:r>
              <a:rPr lang="zh-CN" altLang="en-US" sz="1200" dirty="0"/>
              <a:t>；日构建保障每日提供一个可用版本用于研发内测；每周提供一个转测试版本；每个月提供一个</a:t>
            </a:r>
            <a:r>
              <a:rPr lang="en-US" altLang="zh-CN" sz="1200" dirty="0"/>
              <a:t>Beta</a:t>
            </a:r>
            <a:r>
              <a:rPr lang="zh-CN" altLang="en-US" sz="1200" dirty="0"/>
              <a:t>版本；</a:t>
            </a:r>
            <a:endParaRPr lang="en-US" altLang="zh-CN" sz="12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813115" y="3269588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门禁构建次数趋势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813115" y="3562074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门禁稳定性趋势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813115" y="3866660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拦截有效问题趋势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813115" y="4158993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门禁执行效率分析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813115" y="4460657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拦截问题分析</a:t>
            </a:r>
          </a:p>
        </p:txBody>
      </p:sp>
      <p:cxnSp>
        <p:nvCxnSpPr>
          <p:cNvPr id="30" name="肘形连接符 29"/>
          <p:cNvCxnSpPr>
            <a:stCxn id="6" idx="3"/>
            <a:endCxn id="25" idx="1"/>
          </p:cNvCxnSpPr>
          <p:nvPr/>
        </p:nvCxnSpPr>
        <p:spPr>
          <a:xfrm flipV="1">
            <a:off x="3013792" y="3400393"/>
            <a:ext cx="799323" cy="595945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肘形连接符 30"/>
          <p:cNvCxnSpPr>
            <a:stCxn id="6" idx="3"/>
            <a:endCxn id="29" idx="1"/>
          </p:cNvCxnSpPr>
          <p:nvPr/>
        </p:nvCxnSpPr>
        <p:spPr>
          <a:xfrm>
            <a:off x="3013792" y="3996338"/>
            <a:ext cx="799323" cy="595124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肘形连接符 31"/>
          <p:cNvCxnSpPr>
            <a:stCxn id="6" idx="3"/>
            <a:endCxn id="28" idx="1"/>
          </p:cNvCxnSpPr>
          <p:nvPr/>
        </p:nvCxnSpPr>
        <p:spPr>
          <a:xfrm>
            <a:off x="3013792" y="3996338"/>
            <a:ext cx="799323" cy="293460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肘形连接符 32"/>
          <p:cNvCxnSpPr>
            <a:stCxn id="6" idx="3"/>
            <a:endCxn id="27" idx="1"/>
          </p:cNvCxnSpPr>
          <p:nvPr/>
        </p:nvCxnSpPr>
        <p:spPr>
          <a:xfrm>
            <a:off x="3013792" y="3996338"/>
            <a:ext cx="799323" cy="1127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肘形连接符 33"/>
          <p:cNvCxnSpPr>
            <a:stCxn id="6" idx="3"/>
            <a:endCxn id="26" idx="1"/>
          </p:cNvCxnSpPr>
          <p:nvPr/>
        </p:nvCxnSpPr>
        <p:spPr>
          <a:xfrm flipV="1">
            <a:off x="3013792" y="3692879"/>
            <a:ext cx="799323" cy="303459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文本框 34"/>
          <p:cNvSpPr txBox="1"/>
          <p:nvPr/>
        </p:nvSpPr>
        <p:spPr>
          <a:xfrm>
            <a:off x="3813115" y="4762317"/>
            <a:ext cx="1617304" cy="25391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编译形态构建数据分析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813115" y="5045319"/>
            <a:ext cx="1617304" cy="25391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设备测试分析统计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3813115" y="5337646"/>
            <a:ext cx="1617304" cy="25391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构建问题汇总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813115" y="5639300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静态检查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813115" y="5931633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代码坏味道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813115" y="6233291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安全合规</a:t>
            </a:r>
          </a:p>
        </p:txBody>
      </p:sp>
      <p:cxnSp>
        <p:nvCxnSpPr>
          <p:cNvPr id="41" name="肘形连接符 40"/>
          <p:cNvCxnSpPr>
            <a:stCxn id="7" idx="3"/>
            <a:endCxn id="35" idx="1"/>
          </p:cNvCxnSpPr>
          <p:nvPr/>
        </p:nvCxnSpPr>
        <p:spPr>
          <a:xfrm flipV="1">
            <a:off x="3013792" y="4889275"/>
            <a:ext cx="799323" cy="295633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肘形连接符 41"/>
          <p:cNvCxnSpPr>
            <a:stCxn id="7" idx="3"/>
            <a:endCxn id="37" idx="1"/>
          </p:cNvCxnSpPr>
          <p:nvPr/>
        </p:nvCxnSpPr>
        <p:spPr>
          <a:xfrm>
            <a:off x="3013792" y="5184908"/>
            <a:ext cx="799323" cy="279696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肘形连接符 42"/>
          <p:cNvCxnSpPr>
            <a:stCxn id="7" idx="3"/>
            <a:endCxn id="36" idx="1"/>
          </p:cNvCxnSpPr>
          <p:nvPr/>
        </p:nvCxnSpPr>
        <p:spPr>
          <a:xfrm flipV="1">
            <a:off x="3013792" y="5172277"/>
            <a:ext cx="799323" cy="12631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肘形连接符 43"/>
          <p:cNvCxnSpPr>
            <a:stCxn id="8" idx="3"/>
            <a:endCxn id="38" idx="1"/>
          </p:cNvCxnSpPr>
          <p:nvPr/>
        </p:nvCxnSpPr>
        <p:spPr>
          <a:xfrm flipV="1">
            <a:off x="3013792" y="5770105"/>
            <a:ext cx="799323" cy="352888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肘形连接符 44"/>
          <p:cNvCxnSpPr>
            <a:stCxn id="8" idx="3"/>
            <a:endCxn id="40" idx="1"/>
          </p:cNvCxnSpPr>
          <p:nvPr/>
        </p:nvCxnSpPr>
        <p:spPr>
          <a:xfrm>
            <a:off x="3013792" y="6122993"/>
            <a:ext cx="799323" cy="241103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肘形连接符 45"/>
          <p:cNvCxnSpPr>
            <a:stCxn id="8" idx="3"/>
            <a:endCxn id="39" idx="1"/>
          </p:cNvCxnSpPr>
          <p:nvPr/>
        </p:nvCxnSpPr>
        <p:spPr>
          <a:xfrm flipV="1">
            <a:off x="3013792" y="6062438"/>
            <a:ext cx="799323" cy="60555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文本框 46"/>
          <p:cNvSpPr txBox="1"/>
          <p:nvPr/>
        </p:nvSpPr>
        <p:spPr>
          <a:xfrm>
            <a:off x="3825553" y="6544308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测试覆盖</a:t>
            </a:r>
            <a:r>
              <a:rPr lang="en-US" altLang="zh-CN" sz="1050" dirty="0"/>
              <a:t>/</a:t>
            </a:r>
            <a:r>
              <a:rPr lang="zh-CN" altLang="en-US" sz="1050" dirty="0"/>
              <a:t>架构设计</a:t>
            </a:r>
          </a:p>
        </p:txBody>
      </p:sp>
      <p:cxnSp>
        <p:nvCxnSpPr>
          <p:cNvPr id="48" name="肘形连接符 47"/>
          <p:cNvCxnSpPr>
            <a:stCxn id="8" idx="3"/>
            <a:endCxn id="47" idx="1"/>
          </p:cNvCxnSpPr>
          <p:nvPr/>
        </p:nvCxnSpPr>
        <p:spPr>
          <a:xfrm>
            <a:off x="3013792" y="6122993"/>
            <a:ext cx="811761" cy="552120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文本框 48"/>
          <p:cNvSpPr txBox="1"/>
          <p:nvPr/>
        </p:nvSpPr>
        <p:spPr>
          <a:xfrm>
            <a:off x="6049347" y="3858114"/>
            <a:ext cx="1415772" cy="2769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运维运营统计分析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829015" y="2353103"/>
            <a:ext cx="1256522" cy="2769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代码门禁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829015" y="4969261"/>
            <a:ext cx="1256522" cy="2769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每日构建</a:t>
            </a:r>
          </a:p>
        </p:txBody>
      </p:sp>
      <p:cxnSp>
        <p:nvCxnSpPr>
          <p:cNvPr id="52" name="肘形连接符 51"/>
          <p:cNvCxnSpPr>
            <a:stCxn id="49" idx="3"/>
            <a:endCxn id="50" idx="1"/>
          </p:cNvCxnSpPr>
          <p:nvPr/>
        </p:nvCxnSpPr>
        <p:spPr>
          <a:xfrm flipV="1">
            <a:off x="7465119" y="2491603"/>
            <a:ext cx="363896" cy="1505011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肘形连接符 52"/>
          <p:cNvCxnSpPr>
            <a:stCxn id="49" idx="3"/>
            <a:endCxn id="51" idx="1"/>
          </p:cNvCxnSpPr>
          <p:nvPr/>
        </p:nvCxnSpPr>
        <p:spPr>
          <a:xfrm>
            <a:off x="7465119" y="3996614"/>
            <a:ext cx="363896" cy="1111147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文本框 53"/>
          <p:cNvSpPr txBox="1"/>
          <p:nvPr/>
        </p:nvSpPr>
        <p:spPr>
          <a:xfrm>
            <a:off x="9913484" y="1637500"/>
            <a:ext cx="1617304" cy="25391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门禁构建</a:t>
            </a:r>
            <a:r>
              <a:rPr lang="en-US" altLang="zh-CN" sz="1050" dirty="0"/>
              <a:t>—</a:t>
            </a:r>
            <a:r>
              <a:rPr lang="zh-CN" altLang="en-US" sz="1050" dirty="0"/>
              <a:t>日构建次数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9913484" y="1936073"/>
            <a:ext cx="1617304" cy="25391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门禁构建</a:t>
            </a:r>
            <a:r>
              <a:rPr lang="en-US" altLang="zh-CN" sz="1050" dirty="0"/>
              <a:t>—</a:t>
            </a:r>
            <a:r>
              <a:rPr lang="zh-CN" altLang="en-US" sz="1050" dirty="0"/>
              <a:t>分支构建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9913484" y="2225315"/>
            <a:ext cx="1617304" cy="25391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各设备形态构建时长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9913484" y="2522770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构建资源利用率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9913484" y="2823936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拦截问题看板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9913484" y="3106444"/>
            <a:ext cx="1617304" cy="41549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设备形态</a:t>
            </a:r>
            <a:r>
              <a:rPr lang="en-US" altLang="zh-CN" sz="1050" dirty="0"/>
              <a:t>cache&amp;</a:t>
            </a:r>
            <a:r>
              <a:rPr lang="zh-CN" altLang="en-US" sz="1050" dirty="0"/>
              <a:t>编译分析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9913484" y="3792969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构建成功率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9913484" y="4091542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构建次数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913484" y="4380784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各设备形态执行时长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9913484" y="4678239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测试成功率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913484" y="4979405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静态检查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9913484" y="5261913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en-US" altLang="zh-CN" sz="1050" dirty="0"/>
              <a:t>BEP</a:t>
            </a:r>
            <a:r>
              <a:rPr lang="zh-CN" altLang="en-US" sz="1050" dirty="0"/>
              <a:t>一致性</a:t>
            </a:r>
          </a:p>
        </p:txBody>
      </p:sp>
      <p:cxnSp>
        <p:nvCxnSpPr>
          <p:cNvPr id="66" name="肘形连接符 65"/>
          <p:cNvCxnSpPr>
            <a:stCxn id="50" idx="3"/>
            <a:endCxn id="54" idx="1"/>
          </p:cNvCxnSpPr>
          <p:nvPr/>
        </p:nvCxnSpPr>
        <p:spPr>
          <a:xfrm flipV="1">
            <a:off x="9085537" y="1764458"/>
            <a:ext cx="827947" cy="727145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肘形连接符 66"/>
          <p:cNvCxnSpPr>
            <a:stCxn id="50" idx="3"/>
            <a:endCxn id="59" idx="1"/>
          </p:cNvCxnSpPr>
          <p:nvPr/>
        </p:nvCxnSpPr>
        <p:spPr>
          <a:xfrm>
            <a:off x="9085537" y="2491603"/>
            <a:ext cx="827947" cy="822590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肘形连接符 67"/>
          <p:cNvCxnSpPr>
            <a:stCxn id="50" idx="3"/>
            <a:endCxn id="55" idx="1"/>
          </p:cNvCxnSpPr>
          <p:nvPr/>
        </p:nvCxnSpPr>
        <p:spPr>
          <a:xfrm flipV="1">
            <a:off x="9085537" y="2063031"/>
            <a:ext cx="827947" cy="428572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肘形连接符 68"/>
          <p:cNvCxnSpPr>
            <a:stCxn id="50" idx="3"/>
            <a:endCxn id="56" idx="1"/>
          </p:cNvCxnSpPr>
          <p:nvPr/>
        </p:nvCxnSpPr>
        <p:spPr>
          <a:xfrm flipV="1">
            <a:off x="9085537" y="2352273"/>
            <a:ext cx="827947" cy="139330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肘形连接符 69"/>
          <p:cNvCxnSpPr>
            <a:stCxn id="50" idx="3"/>
            <a:endCxn id="57" idx="1"/>
          </p:cNvCxnSpPr>
          <p:nvPr/>
        </p:nvCxnSpPr>
        <p:spPr>
          <a:xfrm>
            <a:off x="9085537" y="2491603"/>
            <a:ext cx="827947" cy="161972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肘形连接符 70"/>
          <p:cNvCxnSpPr>
            <a:stCxn id="50" idx="3"/>
            <a:endCxn id="58" idx="1"/>
          </p:cNvCxnSpPr>
          <p:nvPr/>
        </p:nvCxnSpPr>
        <p:spPr>
          <a:xfrm>
            <a:off x="9085537" y="2491603"/>
            <a:ext cx="827947" cy="463138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肘形连接符 71"/>
          <p:cNvCxnSpPr>
            <a:stCxn id="51" idx="3"/>
            <a:endCxn id="60" idx="1"/>
          </p:cNvCxnSpPr>
          <p:nvPr/>
        </p:nvCxnSpPr>
        <p:spPr>
          <a:xfrm flipV="1">
            <a:off x="9085537" y="3923774"/>
            <a:ext cx="827947" cy="1183987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肘形连接符 72"/>
          <p:cNvCxnSpPr>
            <a:stCxn id="51" idx="3"/>
            <a:endCxn id="65" idx="1"/>
          </p:cNvCxnSpPr>
          <p:nvPr/>
        </p:nvCxnSpPr>
        <p:spPr>
          <a:xfrm>
            <a:off x="9085537" y="5107761"/>
            <a:ext cx="827947" cy="284957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肘形连接符 73"/>
          <p:cNvCxnSpPr>
            <a:stCxn id="51" idx="3"/>
            <a:endCxn id="61" idx="1"/>
          </p:cNvCxnSpPr>
          <p:nvPr/>
        </p:nvCxnSpPr>
        <p:spPr>
          <a:xfrm flipV="1">
            <a:off x="9085537" y="4222347"/>
            <a:ext cx="827947" cy="885414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肘形连接符 74"/>
          <p:cNvCxnSpPr>
            <a:stCxn id="51" idx="3"/>
            <a:endCxn id="62" idx="1"/>
          </p:cNvCxnSpPr>
          <p:nvPr/>
        </p:nvCxnSpPr>
        <p:spPr>
          <a:xfrm flipV="1">
            <a:off x="9085537" y="4511589"/>
            <a:ext cx="827947" cy="596172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肘形连接符 75"/>
          <p:cNvCxnSpPr>
            <a:stCxn id="51" idx="3"/>
            <a:endCxn id="63" idx="1"/>
          </p:cNvCxnSpPr>
          <p:nvPr/>
        </p:nvCxnSpPr>
        <p:spPr>
          <a:xfrm flipV="1">
            <a:off x="9085537" y="4809044"/>
            <a:ext cx="827947" cy="298717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肘形连接符 76"/>
          <p:cNvCxnSpPr>
            <a:stCxn id="51" idx="3"/>
            <a:endCxn id="64" idx="1"/>
          </p:cNvCxnSpPr>
          <p:nvPr/>
        </p:nvCxnSpPr>
        <p:spPr>
          <a:xfrm>
            <a:off x="9085537" y="5107761"/>
            <a:ext cx="827947" cy="2449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文本框 77"/>
          <p:cNvSpPr txBox="1"/>
          <p:nvPr/>
        </p:nvSpPr>
        <p:spPr>
          <a:xfrm>
            <a:off x="9913484" y="5614745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防投毒扫描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9913484" y="5965457"/>
            <a:ext cx="1617304" cy="2616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sz="1050" dirty="0"/>
              <a:t>病毒扫描</a:t>
            </a:r>
          </a:p>
        </p:txBody>
      </p:sp>
      <p:cxnSp>
        <p:nvCxnSpPr>
          <p:cNvPr id="80" name="肘形连接符 79"/>
          <p:cNvCxnSpPr>
            <a:stCxn id="51" idx="3"/>
            <a:endCxn id="78" idx="1"/>
          </p:cNvCxnSpPr>
          <p:nvPr/>
        </p:nvCxnSpPr>
        <p:spPr>
          <a:xfrm>
            <a:off x="9085537" y="5107761"/>
            <a:ext cx="827947" cy="637789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肘形连接符 80"/>
          <p:cNvCxnSpPr>
            <a:stCxn id="51" idx="3"/>
            <a:endCxn id="79" idx="1"/>
          </p:cNvCxnSpPr>
          <p:nvPr/>
        </p:nvCxnSpPr>
        <p:spPr>
          <a:xfrm>
            <a:off x="9085537" y="5107761"/>
            <a:ext cx="827947" cy="988501"/>
          </a:xfrm>
          <a:prstGeom prst="bentConnector3">
            <a:avLst>
              <a:gd name="adj1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58713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A6F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69309</TotalTime>
  <Words>3011</Words>
  <Application>Microsoft Office PowerPoint</Application>
  <PresentationFormat>宽屏</PresentationFormat>
  <Paragraphs>385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.AppleSystemUIFont</vt:lpstr>
      <vt:lpstr>Source Han Sans CN Bold</vt:lpstr>
      <vt:lpstr>仿宋</vt:lpstr>
      <vt:lpstr>宋体</vt:lpstr>
      <vt:lpstr>微软雅黑</vt:lpstr>
      <vt:lpstr>微软雅黑</vt:lpstr>
      <vt:lpstr>Arial</vt:lpstr>
      <vt:lpstr>Calibri</vt:lpstr>
      <vt:lpstr>Calibri Light</vt:lpstr>
      <vt:lpstr>Wingdings</vt:lpstr>
      <vt:lpstr>Office 主题</vt:lpstr>
      <vt:lpstr>默认设计模板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Wangyiming (Youthdragon)</dc:creator>
  <cp:lastModifiedBy>liushaoqiang</cp:lastModifiedBy>
  <cp:revision>148</cp:revision>
  <dcterms:created xsi:type="dcterms:W3CDTF">2023-08-25T08:02:23Z</dcterms:created>
  <dcterms:modified xsi:type="dcterms:W3CDTF">2024-10-09T09:34:35Z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(3)8J0neuj/0PRLDl+3Z3xiePerAOIJ0B7ccgwXDQPG1CChLhBpsTyfKb/Q+yPhQwKrUDtD1eTs
VTPoH+G6qYH/yVGT08yF53rMqYYZbCgfqbeKkNVt2LsqOijUsR0LqKnxOclZ7pwV8LwSiJ+5
y7Atntv9C/Ub5IPb8RZbDSGSiTsc/GICVSot+HB9px6O3rbsMUHH3mzNSD8Ab/cTzXTVCUOs
7rNxSqXcwJDIh0pfrJ</vt:lpwstr>
  </property>
  <property fmtid="{D5CDD505-2E9C-101B-9397-08002B2CF9AE}" pid="3" name="_2015_ms_pID_7253431">
    <vt:lpwstr>OQmL4HNs/8jeDc2UALkXlBK49P/Xr03hvqM0Izby0BUQHk3PFjJSZ6
CFmcRFKfxjVfzGSzSphkZcF4mVE/oGEXVLiBGXMusLtjV7h6XqxjpTII1et3WC07LF7CthOb
WDsJdFkGYP0nj3apNjnnJLWMnGR+VwWGPfeZu84LwMb3OXoOadxlvGJHG+bA1uEMbdsrP3RB
fAFPpqpL7Pp/jc+ZXfxOfwaEs4VMOeCfd7eV</vt:lpwstr>
  </property>
  <property fmtid="{D5CDD505-2E9C-101B-9397-08002B2CF9AE}" pid="4" name="_2015_ms_pID_7253432">
    <vt:lpwstr>8bh/dWfp1AqAPgu0iDyKnyk=</vt:lpwstr>
  </property>
</Properties>
</file>